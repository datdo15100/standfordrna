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3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143000"/>
            <a:ext cx="10332720" cy="2103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600" b="1">
                <a:solidFill>
                  <a:srgbClr val="FFFFFF"/>
                </a:solidFill>
                <a:latin typeface="Aptos Display"/>
              </a:defRPr>
            </a:pPr>
            <a:r>
              <a:t>GeoFuse-RNA</a:t>
            </a:r>
          </a:p>
          <a:p>
            <a:pPr>
              <a:spcBef>
                <a:spcPts val="1600"/>
              </a:spcBef>
              <a:defRPr sz="2400">
                <a:solidFill>
                  <a:srgbClr val="DCE6F3"/>
                </a:solidFill>
              </a:defRPr>
            </a:pPr>
            <a:r>
              <a:t>Confidence-aware fusion and motif-conditioned</a:t>
            </a:r>
            <a:br/>
            <a:r>
              <a:t>geometric refinement for RNA 3D prediction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937760"/>
            <a:ext cx="5486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AFC0D6"/>
                </a:solidFill>
              </a:defRPr>
            </a:pPr>
            <a:r>
              <a:t>Supervisor progress update</a:t>
            </a:r>
            <a:br/>
            <a:r>
              <a:t>14 July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111556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C8D2E0"/>
                </a:solidFill>
              </a:defRPr>
            </a:pPr>
            <a:r>
              <a:t>Stanford RNA 3D Folding thesis update  •  14 Jul 2026                                     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14213D"/>
                </a:solidFill>
                <a:latin typeface="Aptos Display"/>
              </a:defRPr>
            </a:pPr>
            <a:r>
              <a:t>Executive summary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1234440"/>
            <a:ext cx="1143000" cy="54864"/>
          </a:xfrm>
          <a:prstGeom prst="rect">
            <a:avLst/>
          </a:prstGeom>
          <a:solidFill>
            <a:srgbClr val="13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08760"/>
            <a:ext cx="10698480" cy="4480560"/>
          </a:xfrm>
          <a:prstGeom prst="rect">
            <a:avLst/>
          </a:prstGeom>
          <a:noFill/>
        </p:spPr>
        <p:txBody>
          <a:bodyPr wrap="square" lIns="73152" rIns="45720">
            <a:spAutoFit/>
          </a:bodyPr>
          <a:lstStyle/>
          <a:p>
            <a:pPr>
              <a:lnSpc>
                <a:spcPct val="106000"/>
              </a:lnSpc>
              <a:spcAft>
                <a:spcPts val="1100"/>
              </a:spcAft>
              <a:defRPr sz="1900">
                <a:solidFill>
                  <a:srgbClr val="172033"/>
                </a:solidFill>
                <a:latin typeface="Aptos"/>
              </a:defRPr>
            </a:pPr>
            <a:r>
              <a:t>Reproducible temporal-safe RNA 3D pipeline built around the Stanford Kaggle challenge.</a:t>
            </a:r>
          </a:p>
          <a:p>
            <a:pPr>
              <a:lnSpc>
                <a:spcPct val="106000"/>
              </a:lnSpc>
              <a:spcAft>
                <a:spcPts val="1100"/>
              </a:spcAft>
              <a:defRPr sz="1900">
                <a:solidFill>
                  <a:srgbClr val="172033"/>
                </a:solidFill>
                <a:latin typeface="Aptos"/>
              </a:defRPr>
            </a:pPr>
            <a:r>
              <a:t>Strongest local result: 0.3072 mean best-of-5 TM on 12 CASP15 targets.</a:t>
            </a:r>
          </a:p>
          <a:p>
            <a:pPr>
              <a:lnSpc>
                <a:spcPct val="106000"/>
              </a:lnSpc>
              <a:spcAft>
                <a:spcPts val="1100"/>
              </a:spcAft>
              <a:defRPr sz="1900">
                <a:solidFill>
                  <a:srgbClr val="172033"/>
                </a:solidFill>
                <a:latin typeface="Aptos"/>
              </a:defRPr>
            </a:pPr>
            <a:r>
              <a:t>Kaggle: 0.60084 public / 0.60175 private, versus reported TBM-only 0.59298.</a:t>
            </a:r>
          </a:p>
          <a:p>
            <a:pPr>
              <a:lnSpc>
                <a:spcPct val="106000"/>
              </a:lnSpc>
              <a:spcAft>
                <a:spcPts val="1100"/>
              </a:spcAft>
              <a:defRPr sz="1900">
                <a:solidFill>
                  <a:srgbClr val="172033"/>
                </a:solidFill>
                <a:latin typeface="Aptos"/>
              </a:defRPr>
            </a:pPr>
            <a:r>
              <a:t>Main empirical win: +0.0955 TM from better template recall.</a:t>
            </a:r>
          </a:p>
          <a:p>
            <a:pPr>
              <a:lnSpc>
                <a:spcPct val="106000"/>
              </a:lnSpc>
              <a:spcAft>
                <a:spcPts val="1100"/>
              </a:spcAft>
              <a:defRPr sz="1900">
                <a:solidFill>
                  <a:srgbClr val="172033"/>
                </a:solidFill>
                <a:latin typeface="Aptos"/>
              </a:defRPr>
            </a:pPr>
            <a:r>
              <a:t>Geometry v1 improves clashes/backbone spacing, but is TM-neutral and increases sharp kinks.</a:t>
            </a:r>
          </a:p>
          <a:p>
            <a:pPr>
              <a:lnSpc>
                <a:spcPct val="106000"/>
              </a:lnSpc>
              <a:spcAft>
                <a:spcPts val="1100"/>
              </a:spcAft>
              <a:defRPr sz="1900">
                <a:solidFill>
                  <a:srgbClr val="172033"/>
                </a:solidFill>
                <a:latin typeface="Aptos"/>
              </a:defRPr>
            </a:pPr>
            <a:r>
              <a:t>Next contribution: segment-level TBM/pretrained fusion plus motif-conditioned geometry v2.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111556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E6B7A"/>
                </a:solidFill>
              </a:defRPr>
            </a:pPr>
            <a:r>
              <a:t>Stanford RNA 3D Folding thesis update  •  14 Jul 2026                                    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14213D"/>
                </a:solidFill>
                <a:latin typeface="Aptos Display"/>
              </a:defRPr>
            </a:pPr>
            <a:r>
              <a:t>Problem and benchmark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1234440"/>
            <a:ext cx="1143000" cy="54864"/>
          </a:xfrm>
          <a:prstGeom prst="rect">
            <a:avLst/>
          </a:prstGeom>
          <a:solidFill>
            <a:srgbClr val="13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08760"/>
            <a:ext cx="10698480" cy="4480560"/>
          </a:xfrm>
          <a:prstGeom prst="rect">
            <a:avLst/>
          </a:prstGeom>
          <a:noFill/>
        </p:spPr>
        <p:txBody>
          <a:bodyPr wrap="square" lIns="73152" rIns="45720">
            <a:spAutoFit/>
          </a:bodyPr>
          <a:lstStyle/>
          <a:p>
            <a:pPr>
              <a:lnSpc>
                <a:spcPct val="106000"/>
              </a:lnSpc>
              <a:spcAft>
                <a:spcPts val="1100"/>
              </a:spcAft>
              <a:defRPr sz="2200">
                <a:solidFill>
                  <a:srgbClr val="172033"/>
                </a:solidFill>
                <a:latin typeface="Aptos"/>
              </a:defRPr>
            </a:pPr>
            <a:r>
              <a:t>Input: RNA sequence, MSA, template structures and release-date metadata.</a:t>
            </a:r>
          </a:p>
          <a:p>
            <a:pPr>
              <a:lnSpc>
                <a:spcPct val="106000"/>
              </a:lnSpc>
              <a:spcAft>
                <a:spcPts val="1100"/>
              </a:spcAft>
              <a:defRPr sz="2200">
                <a:solidFill>
                  <a:srgbClr val="172033"/>
                </a:solidFill>
                <a:latin typeface="Aptos"/>
              </a:defRPr>
            </a:pPr>
            <a:r>
              <a:t>Output: five C1′ coordinate structures per target, each with shape [L, 3].</a:t>
            </a:r>
          </a:p>
          <a:p>
            <a:pPr>
              <a:lnSpc>
                <a:spcPct val="106000"/>
              </a:lnSpc>
              <a:spcAft>
                <a:spcPts val="1100"/>
              </a:spcAft>
              <a:defRPr sz="2200">
                <a:solidFill>
                  <a:srgbClr val="172033"/>
                </a:solidFill>
                <a:latin typeface="Aptos"/>
              </a:defRPr>
            </a:pPr>
            <a:r>
              <a:t>Competition score: best TM among five predictions, averaged over targets/references.</a:t>
            </a:r>
          </a:p>
          <a:p>
            <a:pPr>
              <a:lnSpc>
                <a:spcPct val="106000"/>
              </a:lnSpc>
              <a:spcAft>
                <a:spcPts val="1100"/>
              </a:spcAft>
              <a:defRPr sz="2200">
                <a:solidFill>
                  <a:srgbClr val="172033"/>
                </a:solidFill>
                <a:latin typeface="Aptos"/>
              </a:defRPr>
            </a:pPr>
            <a:r>
              <a:t>TM rewards the global fold and can tolerate local geometric artifacts.</a:t>
            </a:r>
          </a:p>
          <a:p>
            <a:pPr>
              <a:lnSpc>
                <a:spcPct val="106000"/>
              </a:lnSpc>
              <a:spcAft>
                <a:spcPts val="1100"/>
              </a:spcAft>
              <a:defRPr sz="2200">
                <a:solidFill>
                  <a:srgbClr val="172033"/>
                </a:solidFill>
                <a:latin typeface="Aptos"/>
              </a:defRPr>
            </a:pPr>
            <a:r>
              <a:t>Thesis evaluation therefore separates fold accuracy from structural validity.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111556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E6B7A"/>
                </a:solidFill>
              </a:defRPr>
            </a:pPr>
            <a:r>
              <a:t>Stanford RNA 3D Folding thesis update  •  14 Jul 2026                                    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14213D"/>
                </a:solidFill>
                <a:latin typeface="Aptos Display"/>
              </a:defRPr>
            </a:pPr>
            <a:r>
              <a:t>Data and EDA snapshot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1234440"/>
            <a:ext cx="1143000" cy="54864"/>
          </a:xfrm>
          <a:prstGeom prst="rect">
            <a:avLst/>
          </a:prstGeom>
          <a:solidFill>
            <a:srgbClr val="13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08760"/>
            <a:ext cx="10698480" cy="4480560"/>
          </a:xfrm>
          <a:prstGeom prst="rect">
            <a:avLst/>
          </a:prstGeom>
          <a:noFill/>
        </p:spPr>
        <p:txBody>
          <a:bodyPr wrap="square" lIns="73152" rIns="45720">
            <a:spAutoFit/>
          </a:bodyPr>
          <a:lstStyle/>
          <a:p>
            <a:pPr>
              <a:lnSpc>
                <a:spcPct val="106000"/>
              </a:lnSpc>
              <a:spcAft>
                <a:spcPts val="1100"/>
              </a:spcAft>
              <a:defRPr sz="2000">
                <a:solidFill>
                  <a:srgbClr val="172033"/>
                </a:solidFill>
                <a:latin typeface="Aptos"/>
              </a:defRPr>
            </a:pPr>
            <a:r>
              <a:t>Train v1: 844 / 137k residues; train v2: 5,135 / 3.68M residues.</a:t>
            </a:r>
          </a:p>
          <a:p>
            <a:pPr>
              <a:lnSpc>
                <a:spcPct val="106000"/>
              </a:lnSpc>
              <a:spcAft>
                <a:spcPts val="1100"/>
              </a:spcAft>
              <a:defRPr sz="2000">
                <a:solidFill>
                  <a:srgbClr val="172033"/>
                </a:solidFill>
                <a:latin typeface="Aptos"/>
              </a:defRPr>
            </a:pPr>
            <a:r>
              <a:t>Local validation/test: 12 CASP15 targets, 2,515 residues total.</a:t>
            </a:r>
          </a:p>
          <a:p>
            <a:pPr>
              <a:lnSpc>
                <a:spcPct val="106000"/>
              </a:lnSpc>
              <a:spcAft>
                <a:spcPts val="1100"/>
              </a:spcAft>
              <a:defRPr sz="2000">
                <a:solidFill>
                  <a:srgbClr val="172033"/>
                </a:solidFill>
                <a:latin typeface="Aptos"/>
              </a:defRPr>
            </a:pPr>
            <a:r>
              <a:t>Lengths span 30–720 nt (median 129.5 nt); R1138 is a 720-nt stress case.</a:t>
            </a:r>
          </a:p>
          <a:p>
            <a:pPr>
              <a:lnSpc>
                <a:spcPct val="106000"/>
              </a:lnSpc>
              <a:spcAft>
                <a:spcPts val="1100"/>
              </a:spcAft>
              <a:defRPr sz="2000">
                <a:solidFill>
                  <a:srgbClr val="172033"/>
                </a:solidFill>
                <a:latin typeface="Aptos"/>
              </a:defRPr>
            </a:pPr>
            <a:r>
              <a:t>Template resource: 8,670 RNA CIF files, 56.89 GiB.</a:t>
            </a:r>
          </a:p>
          <a:p>
            <a:pPr>
              <a:lnSpc>
                <a:spcPct val="106000"/>
              </a:lnSpc>
              <a:spcAft>
                <a:spcPts val="1100"/>
              </a:spcAft>
              <a:defRPr sz="2000">
                <a:solidFill>
                  <a:srgbClr val="172033"/>
                </a:solidFill>
                <a:latin typeface="Aptos"/>
              </a:defRPr>
            </a:pPr>
            <a:r>
              <a:t>Historical parse: 23,869 chains, 10.86M residues, 99.9% modelled C1′, zero errors.</a:t>
            </a:r>
          </a:p>
          <a:p>
            <a:pPr>
              <a:lnSpc>
                <a:spcPct val="106000"/>
              </a:lnSpc>
              <a:spcAft>
                <a:spcPts val="1100"/>
              </a:spcAft>
              <a:defRPr sz="2000">
                <a:solidFill>
                  <a:srgbClr val="172033"/>
                </a:solidFill>
                <a:latin typeface="Aptos"/>
              </a:defRPr>
            </a:pPr>
            <a:r>
              <a:t>MSA and MSA_v2 add target-specific evolutionary context.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111556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E6B7A"/>
                </a:solidFill>
              </a:defRPr>
            </a:pPr>
            <a:r>
              <a:t>Stanford RNA 3D Folding thesis update  •  14 Jul 2026                                    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14213D"/>
                </a:solidFill>
                <a:latin typeface="Aptos Display"/>
              </a:defRPr>
            </a:pPr>
            <a:r>
              <a:t>Leakage is the central evaluation risk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50976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E6B7A"/>
                </a:solidFill>
              </a:defRPr>
            </a:pPr>
            <a:r>
              <a:t>Same earlier TBM pipeline under three template-availability regimes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" y="1234440"/>
            <a:ext cx="1143000" cy="54864"/>
          </a:xfrm>
          <a:prstGeom prst="rect">
            <a:avLst/>
          </a:prstGeom>
          <a:solidFill>
            <a:srgbClr val="13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eakage_diagnost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444752"/>
            <a:ext cx="7955279" cy="42519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869680" y="1828800"/>
            <a:ext cx="2606040" cy="2926080"/>
          </a:xfrm>
          <a:prstGeom prst="roundRect">
            <a:avLst/>
          </a:prstGeom>
          <a:solidFill>
            <a:srgbClr val="F4F7FB"/>
          </a:solidFill>
          <a:ln w="19050">
            <a:solidFill>
              <a:srgbClr val="F299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700" b="1">
                <a:solidFill>
                  <a:srgbClr val="172033"/>
                </a:solidFill>
                <a:latin typeface="Aptos"/>
              </a:defRPr>
            </a:pPr>
            <a:r>
              <a:t>Ignoring time can inflate TM by +0.48 to +0.80.</a:t>
            </a:r>
            <a:br/>
            <a:br/>
            <a:r>
              <a:t>Oracle results are diagnostics, not scientific performance.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111556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E6B7A"/>
                </a:solidFill>
              </a:defRPr>
            </a:pPr>
            <a:r>
              <a:t>Stanford RNA 3D Folding thesis update  •  14 Jul 2026                                    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14213D"/>
                </a:solidFill>
                <a:latin typeface="Aptos Display"/>
              </a:defRPr>
            </a:pPr>
            <a:r>
              <a:t>Implemented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50976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E6B7A"/>
                </a:solidFill>
              </a:defRPr>
            </a:pPr>
            <a:r>
              <a:t>One code path for local evaluation and Kaggle inference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" y="1234440"/>
            <a:ext cx="1143000" cy="54864"/>
          </a:xfrm>
          <a:prstGeom prst="rect">
            <a:avLst/>
          </a:prstGeom>
          <a:solidFill>
            <a:srgbClr val="13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965960"/>
            <a:ext cx="1600200" cy="1051560"/>
          </a:xfrm>
          <a:prstGeom prst="roundRect">
            <a:avLst/>
          </a:prstGeom>
          <a:solidFill>
            <a:srgbClr val="F4F7FB"/>
          </a:solidFill>
          <a:ln w="19050">
            <a:solidFill>
              <a:srgbClr val="2F8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72033"/>
                </a:solidFill>
                <a:latin typeface="Aptos"/>
              </a:defRPr>
            </a:pPr>
            <a:r>
              <a:t>Sequence + cutoff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075688" y="2304288"/>
            <a:ext cx="393192" cy="320040"/>
          </a:xfrm>
          <a:prstGeom prst="rightArrow">
            <a:avLst/>
          </a:prstGeom>
          <a:solidFill>
            <a:srgbClr val="5E6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423160" y="1965960"/>
            <a:ext cx="1600200" cy="1051560"/>
          </a:xfrm>
          <a:prstGeom prst="roundRect">
            <a:avLst/>
          </a:prstGeom>
          <a:solidFill>
            <a:srgbClr val="F4F7FB"/>
          </a:solidFill>
          <a:ln w="19050">
            <a:solidFill>
              <a:srgbClr val="13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72033"/>
                </a:solidFill>
                <a:latin typeface="Aptos"/>
              </a:defRPr>
            </a:pPr>
            <a:r>
              <a:t>Search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995928" y="2304288"/>
            <a:ext cx="393192" cy="320040"/>
          </a:xfrm>
          <a:prstGeom prst="rightArrow">
            <a:avLst/>
          </a:prstGeom>
          <a:solidFill>
            <a:srgbClr val="5E6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251960" y="1965960"/>
            <a:ext cx="1600200" cy="1051560"/>
          </a:xfrm>
          <a:prstGeom prst="roundRect">
            <a:avLst/>
          </a:prstGeom>
          <a:solidFill>
            <a:srgbClr val="F4F7FB"/>
          </a:solidFill>
          <a:ln w="19050">
            <a:solidFill>
              <a:srgbClr val="2F8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72033"/>
                </a:solidFill>
                <a:latin typeface="Aptos"/>
              </a:defRPr>
            </a:pPr>
            <a:r>
              <a:t>Temporal filter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5824728" y="2304288"/>
            <a:ext cx="393192" cy="320040"/>
          </a:xfrm>
          <a:prstGeom prst="rightArrow">
            <a:avLst/>
          </a:prstGeom>
          <a:solidFill>
            <a:srgbClr val="5E6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108192" y="1965960"/>
            <a:ext cx="1600200" cy="1051560"/>
          </a:xfrm>
          <a:prstGeom prst="roundRect">
            <a:avLst/>
          </a:prstGeom>
          <a:solidFill>
            <a:srgbClr val="F4F7FB"/>
          </a:solidFill>
          <a:ln w="19050">
            <a:solidFill>
              <a:srgbClr val="2F8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72033"/>
                </a:solidFill>
                <a:latin typeface="Aptos"/>
              </a:defRPr>
            </a:pPr>
            <a:r>
              <a:t>Transfer + gap fill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680960" y="2304288"/>
            <a:ext cx="393192" cy="320040"/>
          </a:xfrm>
          <a:prstGeom prst="rightArrow">
            <a:avLst/>
          </a:prstGeom>
          <a:solidFill>
            <a:srgbClr val="5E6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119872" y="1965960"/>
            <a:ext cx="1600200" cy="1051560"/>
          </a:xfrm>
          <a:prstGeom prst="roundRect">
            <a:avLst/>
          </a:prstGeom>
          <a:solidFill>
            <a:srgbClr val="F4F7FB"/>
          </a:solidFill>
          <a:ln w="19050">
            <a:solidFill>
              <a:srgbClr val="13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72033"/>
                </a:solidFill>
                <a:latin typeface="Aptos"/>
              </a:defRPr>
            </a:pPr>
            <a:r>
              <a:t>Candidate pool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9692640" y="2304288"/>
            <a:ext cx="393192" cy="320040"/>
          </a:xfrm>
          <a:prstGeom prst="rightArrow">
            <a:avLst/>
          </a:prstGeom>
          <a:solidFill>
            <a:srgbClr val="5E6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0058400" y="1965960"/>
            <a:ext cx="1600200" cy="1051560"/>
          </a:xfrm>
          <a:prstGeom prst="roundRect">
            <a:avLst/>
          </a:prstGeom>
          <a:solidFill>
            <a:srgbClr val="F4F7FB"/>
          </a:solidFill>
          <a:ln w="19050">
            <a:solidFill>
              <a:srgbClr val="2F8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72033"/>
                </a:solidFill>
                <a:latin typeface="Aptos"/>
              </a:defRPr>
            </a:pPr>
            <a:r>
              <a:t>Final five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3703320"/>
            <a:ext cx="10332720" cy="2103120"/>
          </a:xfrm>
          <a:prstGeom prst="rect">
            <a:avLst/>
          </a:prstGeom>
          <a:noFill/>
        </p:spPr>
        <p:txBody>
          <a:bodyPr wrap="square" lIns="73152" rIns="45720">
            <a:spAutoFit/>
          </a:bodyPr>
          <a:lstStyle/>
          <a:p>
            <a:pPr>
              <a:lnSpc>
                <a:spcPct val="106000"/>
              </a:lnSpc>
              <a:spcAft>
                <a:spcPts val="1100"/>
              </a:spcAft>
              <a:defRPr sz="1800">
                <a:solidFill>
                  <a:srgbClr val="172033"/>
                </a:solidFill>
                <a:latin typeface="Aptos"/>
              </a:defRPr>
            </a:pPr>
            <a:r>
              <a:t>MMseqs + exhaustive composite similarity</a:t>
            </a:r>
          </a:p>
          <a:p>
            <a:pPr>
              <a:lnSpc>
                <a:spcPct val="106000"/>
              </a:lnSpc>
              <a:spcAft>
                <a:spcPts val="1100"/>
              </a:spcAft>
              <a:defRPr sz="1800">
                <a:solidFill>
                  <a:srgbClr val="172033"/>
                </a:solidFill>
                <a:latin typeface="Aptos"/>
              </a:defRPr>
            </a:pPr>
            <a:r>
              <a:t>Leakage guard before ranking</a:t>
            </a:r>
          </a:p>
          <a:p>
            <a:pPr>
              <a:lnSpc>
                <a:spcPct val="106000"/>
              </a:lnSpc>
              <a:spcAft>
                <a:spcPts val="1100"/>
              </a:spcAft>
              <a:defRPr sz="1800">
                <a:solidFill>
                  <a:srgbClr val="172033"/>
                </a:solidFill>
                <a:latin typeface="Aptos"/>
              </a:defRPr>
            </a:pPr>
            <a:r>
              <a:t>TBM + de novo hedge + optional geometry refinement</a:t>
            </a:r>
          </a:p>
          <a:p>
            <a:pPr>
              <a:lnSpc>
                <a:spcPct val="106000"/>
              </a:lnSpc>
              <a:spcAft>
                <a:spcPts val="1100"/>
              </a:spcAft>
              <a:defRPr sz="1800">
                <a:solidFill>
                  <a:srgbClr val="172033"/>
                </a:solidFill>
                <a:latin typeface="Aptos"/>
              </a:defRPr>
            </a:pPr>
            <a:r>
              <a:t>Quality/diversity selection produces five C1′ structures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510528"/>
            <a:ext cx="111556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E6B7A"/>
                </a:solidFill>
              </a:defRPr>
            </a:pPr>
            <a:r>
              <a:t>Stanford RNA 3D Folding thesis update  •  14 Jul 2026                                    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14213D"/>
                </a:solidFill>
                <a:latin typeface="Aptos Display"/>
              </a:defRPr>
            </a:pPr>
            <a:r>
              <a:t>How performance evolved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1234440"/>
            <a:ext cx="1143000" cy="54864"/>
          </a:xfrm>
          <a:prstGeom prst="rect">
            <a:avLst/>
          </a:prstGeom>
          <a:solidFill>
            <a:srgbClr val="13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ipeline_evol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444752"/>
            <a:ext cx="7955279" cy="42519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869680" y="1828800"/>
            <a:ext cx="2606040" cy="2926080"/>
          </a:xfrm>
          <a:prstGeom prst="roundRect">
            <a:avLst/>
          </a:prstGeom>
          <a:solidFill>
            <a:srgbClr val="F4F7FB"/>
          </a:solidFill>
          <a:ln w="19050">
            <a:solidFill>
              <a:srgbClr val="F299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700" b="1">
                <a:solidFill>
                  <a:srgbClr val="172033"/>
                </a:solidFill>
                <a:latin typeface="Aptos"/>
              </a:defRPr>
            </a:pPr>
            <a:r>
              <a:t>Candidate generation dominates.</a:t>
            </a:r>
            <a:br/>
            <a:br/>
            <a:r>
              <a:t>The largest jump came from search recall, not coordinate optimisation.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111556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E6B7A"/>
                </a:solidFill>
              </a:defRPr>
            </a:pPr>
            <a:r>
              <a:t>Stanford RNA 3D Folding thesis update  •  14 Jul 2026                                    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14213D"/>
                </a:solidFill>
                <a:latin typeface="Aptos Display"/>
              </a:defRPr>
            </a:pPr>
            <a:r>
              <a:t>Bottleneck diagnosis: candidate recall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1234440"/>
            <a:ext cx="1143000" cy="54864"/>
          </a:xfrm>
          <a:prstGeom prst="rect">
            <a:avLst/>
          </a:prstGeom>
          <a:solidFill>
            <a:srgbClr val="13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08760"/>
            <a:ext cx="10698480" cy="4480560"/>
          </a:xfrm>
          <a:prstGeom prst="rect">
            <a:avLst/>
          </a:prstGeom>
          <a:noFill/>
        </p:spPr>
        <p:txBody>
          <a:bodyPr wrap="square" lIns="73152" rIns="45720">
            <a:spAutoFit/>
          </a:bodyPr>
          <a:lstStyle/>
          <a:p>
            <a:pPr>
              <a:lnSpc>
                <a:spcPct val="106000"/>
              </a:lnSpc>
              <a:spcAft>
                <a:spcPts val="1100"/>
              </a:spcAft>
              <a:defRPr sz="2100">
                <a:solidFill>
                  <a:srgbClr val="172033"/>
                </a:solidFill>
                <a:latin typeface="Aptos"/>
              </a:defRPr>
            </a:pPr>
            <a:r>
              <a:t>Only 5/12 targets originally had an MMseqs temporal-safe hit; 7/12 fell back to de novo.</a:t>
            </a:r>
          </a:p>
          <a:p>
            <a:pPr>
              <a:lnSpc>
                <a:spcPct val="106000"/>
              </a:lnSpc>
              <a:spcAft>
                <a:spcPts val="1100"/>
              </a:spcAft>
              <a:defRPr sz="2100">
                <a:solidFill>
                  <a:srgbClr val="172033"/>
                </a:solidFill>
                <a:latin typeface="Aptos"/>
              </a:defRPr>
            </a:pPr>
            <a:r>
              <a:t>A faithful top-1 reproduction scored 0.2983 temporal-safe using exhaustive composite similarity.</a:t>
            </a:r>
          </a:p>
          <a:p>
            <a:pPr>
              <a:lnSpc>
                <a:spcPct val="106000"/>
              </a:lnSpc>
              <a:spcAft>
                <a:spcPts val="1100"/>
              </a:spcAft>
              <a:defRPr sz="2100">
                <a:solidFill>
                  <a:srgbClr val="172033"/>
                </a:solidFill>
                <a:latin typeface="Aptos"/>
              </a:defRPr>
            </a:pPr>
            <a:r>
              <a:t>This diagnosed search—not refinement—as the main accuracy bottleneck.</a:t>
            </a:r>
          </a:p>
          <a:p>
            <a:pPr>
              <a:lnSpc>
                <a:spcPct val="106000"/>
              </a:lnSpc>
              <a:spcAft>
                <a:spcPts val="1100"/>
              </a:spcAft>
              <a:defRPr sz="2100">
                <a:solidFill>
                  <a:srgbClr val="172033"/>
                </a:solidFill>
                <a:latin typeface="Aptos"/>
              </a:defRPr>
            </a:pPr>
            <a:r>
              <a:t>Composite search lifted our pipeline from 0.2117 to 0.3072.</a:t>
            </a:r>
          </a:p>
          <a:p>
            <a:pPr>
              <a:lnSpc>
                <a:spcPct val="106000"/>
              </a:lnSpc>
              <a:spcAft>
                <a:spcPts val="1100"/>
              </a:spcAft>
              <a:defRPr sz="2100">
                <a:solidFill>
                  <a:srgbClr val="172033"/>
                </a:solidFill>
                <a:latin typeface="Aptos"/>
              </a:defRPr>
            </a:pPr>
            <a:r>
              <a:t>It improved 11/12 targets and beat reproduced top-1 on 9/12.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111556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E6B7A"/>
                </a:solidFill>
              </a:defRPr>
            </a:pPr>
            <a:r>
              <a:t>Stanford RNA 3D Folding thesis update  •  14 Jul 2026                                    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14213D"/>
                </a:solidFill>
                <a:latin typeface="Aptos Display"/>
              </a:defRPr>
            </a:pPr>
            <a:r>
              <a:t>Composite-search ablation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1234440"/>
            <a:ext cx="1143000" cy="54864"/>
          </a:xfrm>
          <a:prstGeom prst="rect">
            <a:avLst/>
          </a:prstGeom>
          <a:solidFill>
            <a:srgbClr val="13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mposite_del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444752"/>
            <a:ext cx="7955279" cy="42519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869680" y="1828800"/>
            <a:ext cx="2606040" cy="2926080"/>
          </a:xfrm>
          <a:prstGeom prst="roundRect">
            <a:avLst/>
          </a:prstGeom>
          <a:solidFill>
            <a:srgbClr val="F4F7FB"/>
          </a:solidFill>
          <a:ln w="19050">
            <a:solidFill>
              <a:srgbClr val="F299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700" b="1">
                <a:solidFill>
                  <a:srgbClr val="172033"/>
                </a:solidFill>
                <a:latin typeface="Aptos"/>
              </a:defRPr>
            </a:pPr>
            <a:r>
              <a:t>Mean gain: +0.0955 TM</a:t>
            </a:r>
            <a:br/>
            <a:br/>
            <a:r>
              <a:t>Largest: R1117v2 +0.320</a:t>
            </a:r>
            <a:br/>
            <a:br/>
            <a:r>
              <a:t>Runtime: ~8 s/target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111556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E6B7A"/>
                </a:solidFill>
              </a:defRPr>
            </a:pPr>
            <a:r>
              <a:t>Stanford RNA 3D Folding thesis update  •  14 Jul 2026                                     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14213D"/>
                </a:solidFill>
                <a:latin typeface="Aptos Display"/>
              </a:defRPr>
            </a:pPr>
            <a:r>
              <a:t>Geometry refinement v1: an honest negative result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50976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E6B7A"/>
                </a:solidFill>
              </a:defRPr>
            </a:pPr>
            <a:r>
              <a:t>Auxiliary metrics averaged over all five structures and 12 targets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" y="1234440"/>
            <a:ext cx="1143000" cy="54864"/>
          </a:xfrm>
          <a:prstGeom prst="rect">
            <a:avLst/>
          </a:prstGeom>
          <a:solidFill>
            <a:srgbClr val="13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refinement_truthfuln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444752"/>
            <a:ext cx="7955279" cy="42519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869680" y="1828800"/>
            <a:ext cx="2606040" cy="2926080"/>
          </a:xfrm>
          <a:prstGeom prst="roundRect">
            <a:avLst/>
          </a:prstGeom>
          <a:solidFill>
            <a:srgbClr val="F4F7FB"/>
          </a:solidFill>
          <a:ln w="19050">
            <a:solidFill>
              <a:srgbClr val="F299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700" b="1">
                <a:solidFill>
                  <a:srgbClr val="172033"/>
                </a:solidFill>
                <a:latin typeface="Aptos"/>
              </a:defRPr>
            </a:pPr>
            <a:r>
              <a:t>−42% clashes</a:t>
            </a:r>
            <a:br/>
            <a:r>
              <a:t>−47% backbone deviation</a:t>
            </a:r>
            <a:br/>
            <a:br/>
            <a:r>
              <a:t>TM: −0.002</a:t>
            </a:r>
            <a:br/>
            <a:r>
              <a:t>Kinks: ~2×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111556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E6B7A"/>
                </a:solidFill>
              </a:defRPr>
            </a:pPr>
            <a:r>
              <a:t>Stanford RNA 3D Folding thesis update  •  14 Jul 2026                                    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14213D"/>
                </a:solidFill>
                <a:latin typeface="Aptos Display"/>
              </a:defRPr>
            </a:pPr>
            <a:r>
              <a:t>What is already a contribution?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1234440"/>
            <a:ext cx="1143000" cy="54864"/>
          </a:xfrm>
          <a:prstGeom prst="rect">
            <a:avLst/>
          </a:prstGeom>
          <a:solidFill>
            <a:srgbClr val="13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08760"/>
            <a:ext cx="10698480" cy="4480560"/>
          </a:xfrm>
          <a:prstGeom prst="rect">
            <a:avLst/>
          </a:prstGeom>
          <a:noFill/>
        </p:spPr>
        <p:txBody>
          <a:bodyPr wrap="square" lIns="73152" rIns="45720">
            <a:spAutoFit/>
          </a:bodyPr>
          <a:lstStyle/>
          <a:p>
            <a:pPr>
              <a:lnSpc>
                <a:spcPct val="106000"/>
              </a:lnSpc>
              <a:spcAft>
                <a:spcPts val="1100"/>
              </a:spcAft>
              <a:defRPr sz="2100">
                <a:solidFill>
                  <a:srgbClr val="172033"/>
                </a:solidFill>
                <a:latin typeface="Aptos"/>
              </a:defRPr>
            </a:pPr>
            <a:r>
              <a:t>A reproducible temporal-safe benchmark with explicit leakage quantification.</a:t>
            </a:r>
          </a:p>
          <a:p>
            <a:pPr>
              <a:lnSpc>
                <a:spcPct val="106000"/>
              </a:lnSpc>
              <a:spcAft>
                <a:spcPts val="1100"/>
              </a:spcAft>
              <a:defRPr sz="2100">
                <a:solidFill>
                  <a:srgbClr val="172033"/>
                </a:solidFill>
                <a:latin typeface="Aptos"/>
              </a:defRPr>
            </a:pPr>
            <a:r>
              <a:t>A search diagnosis and composite-recall improvement over the reproduced top-1 baseline.</a:t>
            </a:r>
          </a:p>
          <a:p>
            <a:pPr>
              <a:lnSpc>
                <a:spcPct val="106000"/>
              </a:lnSpc>
              <a:spcAft>
                <a:spcPts val="1100"/>
              </a:spcAft>
              <a:defRPr sz="2100">
                <a:solidFill>
                  <a:srgbClr val="172033"/>
                </a:solidFill>
                <a:latin typeface="Aptos"/>
              </a:defRPr>
            </a:pPr>
            <a:r>
              <a:t>Adversarial refinement evaluation using an unoptimised sharp-kink metric.</a:t>
            </a:r>
          </a:p>
          <a:p>
            <a:pPr>
              <a:lnSpc>
                <a:spcPct val="106000"/>
              </a:lnSpc>
              <a:spcAft>
                <a:spcPts val="1100"/>
              </a:spcAft>
              <a:defRPr sz="2100">
                <a:solidFill>
                  <a:srgbClr val="172033"/>
                </a:solidFill>
                <a:latin typeface="Aptos"/>
              </a:defRPr>
            </a:pPr>
            <a:r>
              <a:t>Reusable accuracy, geometry and diversity evaluation in one codebase.</a:t>
            </a:r>
          </a:p>
          <a:p>
            <a:pPr>
              <a:lnSpc>
                <a:spcPct val="106000"/>
              </a:lnSpc>
              <a:spcAft>
                <a:spcPts val="1100"/>
              </a:spcAft>
              <a:defRPr sz="2100">
                <a:solidFill>
                  <a:srgbClr val="172033"/>
                </a:solidFill>
                <a:latin typeface="Aptos"/>
              </a:defRPr>
            </a:pPr>
            <a:r>
              <a:t>However, generic ‘TBM + pretrained + refinement’ remains too close to leaderboard practice.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111556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E6B7A"/>
                </a:solidFill>
              </a:defRPr>
            </a:pPr>
            <a:r>
              <a:t>Stanford RNA 3D Folding thesis update  •  14 Jul 2026                                    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657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900" b="1">
                <a:solidFill>
                  <a:srgbClr val="FFFFFF"/>
                </a:solidFill>
              </a:defRPr>
            </a:pPr>
            <a:r>
              <a:t>Proposed thesis extension: GeoFuse-RNA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1691640" cy="960120"/>
          </a:xfrm>
          <a:prstGeom prst="roundRect">
            <a:avLst/>
          </a:prstGeom>
          <a:solidFill>
            <a:srgbClr val="F4F7FB"/>
          </a:solidFill>
          <a:ln w="19050">
            <a:solidFill>
              <a:srgbClr val="2F8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172033"/>
                </a:solidFill>
                <a:latin typeface="Aptos"/>
              </a:defRPr>
            </a:pPr>
            <a:r>
              <a:t>TBM candidates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3749039"/>
            <a:ext cx="1691640" cy="960120"/>
          </a:xfrm>
          <a:prstGeom prst="roundRect">
            <a:avLst/>
          </a:prstGeom>
          <a:solidFill>
            <a:srgbClr val="F4F7FB"/>
          </a:solidFill>
          <a:ln w="19050">
            <a:solidFill>
              <a:srgbClr val="13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172033"/>
                </a:solidFill>
                <a:latin typeface="Aptos"/>
              </a:defRPr>
            </a:pPr>
            <a:r>
              <a:t>Pretrained candidates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154680" y="2697480"/>
            <a:ext cx="1920240" cy="960120"/>
          </a:xfrm>
          <a:prstGeom prst="roundRect">
            <a:avLst/>
          </a:prstGeom>
          <a:solidFill>
            <a:srgbClr val="F4F7FB"/>
          </a:solidFill>
          <a:ln w="19050">
            <a:solidFill>
              <a:srgbClr val="F299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172033"/>
                </a:solidFill>
                <a:latin typeface="Aptos"/>
              </a:defRPr>
            </a:pPr>
            <a:r>
              <a:t>Fold clustering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49240" y="2697480"/>
            <a:ext cx="1920240" cy="960120"/>
          </a:xfrm>
          <a:prstGeom prst="roundRect">
            <a:avLst/>
          </a:prstGeom>
          <a:solidFill>
            <a:srgbClr val="F4F7FB"/>
          </a:solidFill>
          <a:ln w="19050">
            <a:solidFill>
              <a:srgbClr val="13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172033"/>
                </a:solidFill>
                <a:latin typeface="Aptos"/>
              </a:defRPr>
            </a:pPr>
            <a:r>
              <a:t>Residue/segment confidence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09560" y="1965960"/>
            <a:ext cx="1783080" cy="960120"/>
          </a:xfrm>
          <a:prstGeom prst="roundRect">
            <a:avLst/>
          </a:prstGeom>
          <a:solidFill>
            <a:srgbClr val="F4F7FB"/>
          </a:solidFill>
          <a:ln w="19050">
            <a:solidFill>
              <a:srgbClr val="2F8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172033"/>
                </a:solidFill>
                <a:latin typeface="Aptos"/>
              </a:defRPr>
            </a:pPr>
            <a:r>
              <a:t>Segment fusion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09560" y="3657600"/>
            <a:ext cx="1783080" cy="960120"/>
          </a:xfrm>
          <a:prstGeom prst="roundRect">
            <a:avLst/>
          </a:prstGeom>
          <a:solidFill>
            <a:srgbClr val="F4F7FB"/>
          </a:solidFill>
          <a:ln w="19050">
            <a:solidFill>
              <a:srgbClr val="F299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172033"/>
                </a:solidFill>
                <a:latin typeface="Aptos"/>
              </a:defRPr>
            </a:pPr>
            <a:r>
              <a:t>Geometry v2 projection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0" y="2788920"/>
            <a:ext cx="1783080" cy="960120"/>
          </a:xfrm>
          <a:prstGeom prst="roundRect">
            <a:avLst/>
          </a:prstGeom>
          <a:solidFill>
            <a:srgbClr val="F4F7FB"/>
          </a:solidFill>
          <a:ln w="19050">
            <a:solidFill>
              <a:srgbClr val="13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172033"/>
                </a:solidFill>
                <a:latin typeface="Aptos"/>
              </a:defRPr>
            </a:pPr>
            <a:r>
              <a:t>Quality-diversity final five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423160" y="2011680"/>
            <a:ext cx="731520" cy="960120"/>
          </a:xfrm>
          <a:prstGeom prst="line">
            <a:avLst/>
          </a:prstGeom>
          <a:ln w="19050">
            <a:solidFill>
              <a:srgbClr val="AFC0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2423160" y="3246120"/>
            <a:ext cx="731520" cy="822960"/>
          </a:xfrm>
          <a:prstGeom prst="line">
            <a:avLst/>
          </a:prstGeom>
          <a:ln w="19050">
            <a:solidFill>
              <a:srgbClr val="AFC0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5074920" y="3063240"/>
            <a:ext cx="274320" cy="0"/>
          </a:xfrm>
          <a:prstGeom prst="line">
            <a:avLst/>
          </a:prstGeom>
          <a:ln w="19050">
            <a:solidFill>
              <a:srgbClr val="AFC0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7269480" y="2468880"/>
            <a:ext cx="640080" cy="594360"/>
          </a:xfrm>
          <a:prstGeom prst="line">
            <a:avLst/>
          </a:prstGeom>
          <a:ln w="19050">
            <a:solidFill>
              <a:srgbClr val="AFC0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7269480" y="3246120"/>
            <a:ext cx="640080" cy="822960"/>
          </a:xfrm>
          <a:prstGeom prst="line">
            <a:avLst/>
          </a:prstGeom>
          <a:ln w="19050">
            <a:solidFill>
              <a:srgbClr val="AFC0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9692640" y="2423160"/>
            <a:ext cx="365760" cy="594360"/>
          </a:xfrm>
          <a:prstGeom prst="line">
            <a:avLst/>
          </a:prstGeom>
          <a:ln w="19050">
            <a:solidFill>
              <a:srgbClr val="AFC0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9692640" y="3383280"/>
            <a:ext cx="365760" cy="640080"/>
          </a:xfrm>
          <a:prstGeom prst="line">
            <a:avLst/>
          </a:prstGeom>
          <a:ln w="19050">
            <a:solidFill>
              <a:srgbClr val="AFC0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005840" y="5715000"/>
            <a:ext cx="101498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Novelty is the adaptive integration layer — not another large RNA foundation model.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510528"/>
            <a:ext cx="111556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C8D2E0"/>
                </a:solidFill>
              </a:defRPr>
            </a:pPr>
            <a:r>
              <a:t>Stanford RNA 3D Folding thesis update  •  14 Jul 2026                                    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14213D"/>
                </a:solidFill>
                <a:latin typeface="Aptos Display"/>
              </a:defRPr>
            </a:pPr>
            <a:r>
              <a:t>Geometry v2: directly answer the v1 failure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1234440"/>
            <a:ext cx="1143000" cy="54864"/>
          </a:xfrm>
          <a:prstGeom prst="rect">
            <a:avLst/>
          </a:prstGeom>
          <a:solidFill>
            <a:srgbClr val="13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08760"/>
            <a:ext cx="10698480" cy="4480560"/>
          </a:xfrm>
          <a:prstGeom prst="rect">
            <a:avLst/>
          </a:prstGeom>
          <a:noFill/>
        </p:spPr>
        <p:txBody>
          <a:bodyPr wrap="square" lIns="73152" rIns="45720">
            <a:spAutoFit/>
          </a:bodyPr>
          <a:lstStyle/>
          <a:p>
            <a:pPr>
              <a:lnSpc>
                <a:spcPct val="106000"/>
              </a:lnSpc>
              <a:spcAft>
                <a:spcPts val="1100"/>
              </a:spcAft>
              <a:defRPr sz="2100">
                <a:solidFill>
                  <a:srgbClr val="172033"/>
                </a:solidFill>
                <a:latin typeface="Aptos"/>
              </a:defRPr>
            </a:pPr>
            <a:r>
              <a:t>Retain adjacent-distance, clash and size terms.</a:t>
            </a:r>
          </a:p>
          <a:p>
            <a:pPr>
              <a:lnSpc>
                <a:spcPct val="106000"/>
              </a:lnSpc>
              <a:spcAft>
                <a:spcPts val="1100"/>
              </a:spcAft>
              <a:defRPr sz="2100">
                <a:solidFill>
                  <a:srgbClr val="172033"/>
                </a:solidFill>
                <a:latin typeface="Aptos"/>
              </a:defRPr>
            </a:pPr>
            <a:r>
              <a:t>Add context-conditioned angle/curvature distributions to prevent kink trading.</a:t>
            </a:r>
          </a:p>
          <a:p>
            <a:pPr>
              <a:lnSpc>
                <a:spcPct val="106000"/>
              </a:lnSpc>
              <a:spcAft>
                <a:spcPts val="1100"/>
              </a:spcAft>
              <a:defRPr sz="2100">
                <a:solidFill>
                  <a:srgbClr val="172033"/>
                </a:solidFill>
                <a:latin typeface="Aptos"/>
              </a:defRPr>
            </a:pPr>
            <a:r>
              <a:t>Use signed pseudo-torsion only when the required atom representation is retained.</a:t>
            </a:r>
          </a:p>
          <a:p>
            <a:pPr>
              <a:lnSpc>
                <a:spcPct val="106000"/>
              </a:lnSpc>
              <a:spcAft>
                <a:spcPts val="1100"/>
              </a:spcAft>
              <a:defRPr sz="2100">
                <a:solidFill>
                  <a:srgbClr val="172033"/>
                </a:solidFill>
                <a:latin typeface="Aptos"/>
              </a:defRPr>
            </a:pPr>
            <a:r>
              <a:t>Optimise in stages: stitch/fuse → local repair → weak global prior.</a:t>
            </a:r>
          </a:p>
          <a:p>
            <a:pPr>
              <a:lnSpc>
                <a:spcPct val="106000"/>
              </a:lnSpc>
              <a:spcAft>
                <a:spcPts val="1100"/>
              </a:spcAft>
              <a:defRPr sz="2100">
                <a:solidFill>
                  <a:srgbClr val="172033"/>
                </a:solidFill>
                <a:latin typeface="Aptos"/>
              </a:defRPr>
            </a:pPr>
            <a:r>
              <a:t>Success gate: preserve TM and geometry gains without exceeding the no-refine kink rate.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111556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E6B7A"/>
                </a:solidFill>
              </a:defRPr>
            </a:pPr>
            <a:r>
              <a:t>Stanford RNA 3D Folding thesis update  •  14 Jul 2026                                     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14213D"/>
                </a:solidFill>
                <a:latin typeface="Aptos Display"/>
              </a:defRPr>
            </a:pPr>
            <a:r>
              <a:t>Confidence-aware segment fusion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1234440"/>
            <a:ext cx="1143000" cy="54864"/>
          </a:xfrm>
          <a:prstGeom prst="rect">
            <a:avLst/>
          </a:prstGeom>
          <a:solidFill>
            <a:srgbClr val="13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08760"/>
            <a:ext cx="10698480" cy="4480560"/>
          </a:xfrm>
          <a:prstGeom prst="rect">
            <a:avLst/>
          </a:prstGeom>
          <a:noFill/>
        </p:spPr>
        <p:txBody>
          <a:bodyPr wrap="square" lIns="73152" rIns="45720">
            <a:spAutoFit/>
          </a:bodyPr>
          <a:lstStyle/>
          <a:p>
            <a:pPr>
              <a:lnSpc>
                <a:spcPct val="106000"/>
              </a:lnSpc>
              <a:spcAft>
                <a:spcPts val="1100"/>
              </a:spcAft>
              <a:defRPr sz="1900">
                <a:solidFill>
                  <a:srgbClr val="172033"/>
                </a:solidFill>
                <a:latin typeface="Aptos"/>
              </a:defRPr>
            </a:pPr>
            <a:r>
              <a:t>Estimate source reliability at residue/segment level, not only one score per structure.</a:t>
            </a:r>
          </a:p>
          <a:p>
            <a:pPr>
              <a:lnSpc>
                <a:spcPct val="106000"/>
              </a:lnSpc>
              <a:spcAft>
                <a:spcPts val="1100"/>
              </a:spcAft>
              <a:defRPr sz="1900">
                <a:solidFill>
                  <a:srgbClr val="172033"/>
                </a:solidFill>
                <a:latin typeface="Aptos"/>
              </a:defRPr>
            </a:pPr>
            <a:r>
              <a:t>TBM features: identity, coverage, completeness, gap mask, date and local agreement.</a:t>
            </a:r>
          </a:p>
          <a:p>
            <a:pPr>
              <a:lnSpc>
                <a:spcPct val="106000"/>
              </a:lnSpc>
              <a:spcAft>
                <a:spcPts val="1100"/>
              </a:spcAft>
              <a:defRPr sz="1900">
                <a:solidFill>
                  <a:srgbClr val="172033"/>
                </a:solidFill>
                <a:latin typeface="Aptos"/>
              </a:defRPr>
            </a:pPr>
            <a:r>
              <a:t>Pretrained features: model confidence and agreement among predicted folds.</a:t>
            </a:r>
          </a:p>
          <a:p>
            <a:pPr>
              <a:lnSpc>
                <a:spcPct val="106000"/>
              </a:lnSpc>
              <a:spcAft>
                <a:spcPts val="1100"/>
              </a:spcAft>
              <a:defRPr sz="1900">
                <a:solidFill>
                  <a:srgbClr val="172033"/>
                </a:solidFill>
                <a:latin typeface="Aptos"/>
              </a:defRPr>
            </a:pPr>
            <a:r>
              <a:t>Align and cluster candidates before fusion; never blend incompatible global folds.</a:t>
            </a:r>
          </a:p>
          <a:p>
            <a:pPr>
              <a:lnSpc>
                <a:spcPct val="106000"/>
              </a:lnSpc>
              <a:spcAft>
                <a:spcPts val="1100"/>
              </a:spcAft>
              <a:defRPr sz="1900">
                <a:solidFill>
                  <a:srgbClr val="172033"/>
                </a:solidFill>
                <a:latin typeface="Aptos"/>
              </a:defRPr>
            </a:pPr>
            <a:r>
              <a:t>Use segment smoothing and seam penalties to avoid ‘Frankenstein’ switching.</a:t>
            </a:r>
          </a:p>
          <a:p>
            <a:pPr>
              <a:lnSpc>
                <a:spcPct val="106000"/>
              </a:lnSpc>
              <a:spcAft>
                <a:spcPts val="1100"/>
              </a:spcAft>
              <a:defRPr sz="1900">
                <a:solidFill>
                  <a:srgbClr val="172033"/>
                </a:solidFill>
                <a:latin typeface="Aptos"/>
              </a:defRPr>
            </a:pPr>
            <a:r>
              <a:t>Train/evaluate on real held-out predictions, not synthetic corruptions alone.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111556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E6B7A"/>
                </a:solidFill>
              </a:defRPr>
            </a:pPr>
            <a:r>
              <a:t>Stanford RNA 3D Folding thesis update  •  14 Jul 2026                                     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14213D"/>
                </a:solidFill>
                <a:latin typeface="Aptos Display"/>
              </a:defRPr>
            </a:pPr>
            <a:r>
              <a:t>Experiments that isolate the contribution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1234440"/>
            <a:ext cx="1143000" cy="54864"/>
          </a:xfrm>
          <a:prstGeom prst="rect">
            <a:avLst/>
          </a:prstGeom>
          <a:solidFill>
            <a:srgbClr val="13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572768"/>
            <a:ext cx="685800" cy="658368"/>
          </a:xfrm>
          <a:prstGeom prst="roundRect">
            <a:avLst/>
          </a:prstGeom>
          <a:solidFill>
            <a:srgbClr val="F4F7FB"/>
          </a:solidFill>
          <a:ln w="19050">
            <a:solidFill>
              <a:srgbClr val="2F8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172033"/>
                </a:solidFill>
                <a:latin typeface="Aptos"/>
              </a:defRPr>
            </a:pPr>
            <a:r>
              <a:t>B0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600200" y="1572768"/>
            <a:ext cx="3657600" cy="658368"/>
          </a:xfrm>
          <a:prstGeom prst="roundRect">
            <a:avLst/>
          </a:prstGeom>
          <a:solidFill>
            <a:srgbClr val="F4F7FB"/>
          </a:solidFill>
          <a:ln w="19050">
            <a:solidFill>
              <a:srgbClr val="2F8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172033"/>
                </a:solidFill>
                <a:latin typeface="Aptos"/>
              </a:defRPr>
            </a:pPr>
            <a:r>
              <a:t>Current TBM + composite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532120" y="1572768"/>
            <a:ext cx="5623560" cy="658368"/>
          </a:xfrm>
          <a:prstGeom prst="roundRect">
            <a:avLst/>
          </a:prstGeom>
          <a:solidFill>
            <a:srgbClr val="F4F7FB"/>
          </a:solidFill>
          <a:ln w="19050">
            <a:solidFill>
              <a:srgbClr val="F299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172033"/>
                </a:solidFill>
                <a:latin typeface="Aptos"/>
              </a:defRPr>
            </a:pPr>
            <a:r>
              <a:t>Strong reference baseline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432304"/>
            <a:ext cx="685800" cy="658368"/>
          </a:xfrm>
          <a:prstGeom prst="roundRect">
            <a:avLst/>
          </a:prstGeom>
          <a:solidFill>
            <a:srgbClr val="F4F7FB"/>
          </a:solidFill>
          <a:ln w="19050">
            <a:solidFill>
              <a:srgbClr val="2F8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172033"/>
                </a:solidFill>
                <a:latin typeface="Aptos"/>
              </a:defRPr>
            </a:pPr>
            <a:r>
              <a:t>B1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600200" y="2432304"/>
            <a:ext cx="3657600" cy="658368"/>
          </a:xfrm>
          <a:prstGeom prst="roundRect">
            <a:avLst/>
          </a:prstGeom>
          <a:solidFill>
            <a:srgbClr val="F4F7FB"/>
          </a:solidFill>
          <a:ln w="19050">
            <a:solidFill>
              <a:srgbClr val="2F80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172033"/>
                </a:solidFill>
                <a:latin typeface="Aptos"/>
              </a:defRPr>
            </a:pPr>
            <a:r>
              <a:t>+ raw pretrained union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532120" y="2432304"/>
            <a:ext cx="5623560" cy="658368"/>
          </a:xfrm>
          <a:prstGeom prst="roundRect">
            <a:avLst/>
          </a:prstGeom>
          <a:solidFill>
            <a:srgbClr val="F4F7FB"/>
          </a:solidFill>
          <a:ln w="19050">
            <a:solidFill>
              <a:srgbClr val="F299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172033"/>
                </a:solidFill>
                <a:latin typeface="Aptos"/>
              </a:defRPr>
            </a:pPr>
            <a:r>
              <a:t>Does oracle candidate TM rise?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291840"/>
            <a:ext cx="685800" cy="658368"/>
          </a:xfrm>
          <a:prstGeom prst="roundRect">
            <a:avLst/>
          </a:prstGeom>
          <a:solidFill>
            <a:srgbClr val="F4F7FB"/>
          </a:solidFill>
          <a:ln w="19050">
            <a:solidFill>
              <a:srgbClr val="13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172033"/>
                </a:solidFill>
                <a:latin typeface="Aptos"/>
              </a:defRPr>
            </a:pPr>
            <a:r>
              <a:t>B2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00200" y="3291840"/>
            <a:ext cx="3657600" cy="658368"/>
          </a:xfrm>
          <a:prstGeom prst="roundRect">
            <a:avLst/>
          </a:prstGeom>
          <a:solidFill>
            <a:srgbClr val="F4F7FB"/>
          </a:solidFill>
          <a:ln w="19050">
            <a:solidFill>
              <a:srgbClr val="13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172033"/>
                </a:solidFill>
                <a:latin typeface="Aptos"/>
              </a:defRPr>
            </a:pPr>
            <a:r>
              <a:t>+ confidence-aware fusion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532120" y="3291840"/>
            <a:ext cx="5623560" cy="658368"/>
          </a:xfrm>
          <a:prstGeom prst="roundRect">
            <a:avLst/>
          </a:prstGeom>
          <a:solidFill>
            <a:srgbClr val="F4F7FB"/>
          </a:solidFill>
          <a:ln w="19050">
            <a:solidFill>
              <a:srgbClr val="F299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172033"/>
                </a:solidFill>
                <a:latin typeface="Aptos"/>
              </a:defRPr>
            </a:pPr>
            <a:r>
              <a:t>Fusion vs whole-candidate selection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151376"/>
            <a:ext cx="685800" cy="658368"/>
          </a:xfrm>
          <a:prstGeom prst="roundRect">
            <a:avLst/>
          </a:prstGeom>
          <a:solidFill>
            <a:srgbClr val="F4F7FB"/>
          </a:solidFill>
          <a:ln w="19050">
            <a:solidFill>
              <a:srgbClr val="13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172033"/>
                </a:solidFill>
                <a:latin typeface="Aptos"/>
              </a:defRPr>
            </a:pPr>
            <a:r>
              <a:t>B3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600200" y="4151376"/>
            <a:ext cx="3657600" cy="658368"/>
          </a:xfrm>
          <a:prstGeom prst="roundRect">
            <a:avLst/>
          </a:prstGeom>
          <a:solidFill>
            <a:srgbClr val="F4F7FB"/>
          </a:solidFill>
          <a:ln w="19050">
            <a:solidFill>
              <a:srgbClr val="13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172033"/>
                </a:solidFill>
                <a:latin typeface="Aptos"/>
              </a:defRPr>
            </a:pPr>
            <a:r>
              <a:t>+ geometry v2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532120" y="4151376"/>
            <a:ext cx="5623560" cy="658368"/>
          </a:xfrm>
          <a:prstGeom prst="roundRect">
            <a:avLst/>
          </a:prstGeom>
          <a:solidFill>
            <a:srgbClr val="F4F7FB"/>
          </a:solidFill>
          <a:ln w="19050">
            <a:solidFill>
              <a:srgbClr val="F299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172033"/>
                </a:solidFill>
                <a:latin typeface="Aptos"/>
              </a:defRPr>
            </a:pPr>
            <a:r>
              <a:t>Repair without kink artifacts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010912"/>
            <a:ext cx="685800" cy="658368"/>
          </a:xfrm>
          <a:prstGeom prst="roundRect">
            <a:avLst/>
          </a:prstGeom>
          <a:solidFill>
            <a:srgbClr val="F4F7FB"/>
          </a:solidFill>
          <a:ln w="19050">
            <a:solidFill>
              <a:srgbClr val="13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172033"/>
                </a:solidFill>
                <a:latin typeface="Aptos"/>
              </a:defRPr>
            </a:pPr>
            <a:r>
              <a:t>B4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600200" y="5010912"/>
            <a:ext cx="3657600" cy="658368"/>
          </a:xfrm>
          <a:prstGeom prst="roundRect">
            <a:avLst/>
          </a:prstGeom>
          <a:solidFill>
            <a:srgbClr val="F4F7FB"/>
          </a:solidFill>
          <a:ln w="19050">
            <a:solidFill>
              <a:srgbClr val="13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172033"/>
                </a:solidFill>
                <a:latin typeface="Aptos"/>
              </a:defRPr>
            </a:pPr>
            <a:r>
              <a:t>+ fold-aware final-five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532120" y="5010912"/>
            <a:ext cx="5623560" cy="658368"/>
          </a:xfrm>
          <a:prstGeom prst="roundRect">
            <a:avLst/>
          </a:prstGeom>
          <a:solidFill>
            <a:srgbClr val="F4F7FB"/>
          </a:solidFill>
          <a:ln w="19050">
            <a:solidFill>
              <a:srgbClr val="F299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172033"/>
                </a:solidFill>
                <a:latin typeface="Aptos"/>
              </a:defRPr>
            </a:pPr>
            <a:r>
              <a:t>Quality/diversity and selection regret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510528"/>
            <a:ext cx="111556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E6B7A"/>
                </a:solidFill>
              </a:defRPr>
            </a:pPr>
            <a:r>
              <a:t>Stanford RNA 3D Folding thesis update  •  14 Jul 2026                                     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14213D"/>
                </a:solidFill>
                <a:latin typeface="Aptos Display"/>
              </a:defRPr>
            </a:pPr>
            <a:r>
              <a:t>Current engineering status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1234440"/>
            <a:ext cx="1143000" cy="54864"/>
          </a:xfrm>
          <a:prstGeom prst="rect">
            <a:avLst/>
          </a:prstGeom>
          <a:solidFill>
            <a:srgbClr val="13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08760"/>
            <a:ext cx="10698480" cy="4480560"/>
          </a:xfrm>
          <a:prstGeom prst="rect">
            <a:avLst/>
          </a:prstGeom>
          <a:noFill/>
        </p:spPr>
        <p:txBody>
          <a:bodyPr wrap="square" lIns="73152" rIns="45720">
            <a:spAutoFit/>
          </a:bodyPr>
          <a:lstStyle/>
          <a:p>
            <a:pPr>
              <a:lnSpc>
                <a:spcPct val="106000"/>
              </a:lnSpc>
              <a:spcAft>
                <a:spcPts val="1100"/>
              </a:spcAft>
              <a:defRPr sz="1900">
                <a:solidFill>
                  <a:srgbClr val="172033"/>
                </a:solidFill>
                <a:latin typeface="Aptos"/>
              </a:defRPr>
            </a:pPr>
            <a:r>
              <a:t>WSL Conda env ‘rna-fold’ installed; RTX 3060 Ti CUDA and MMseqs2 verified.</a:t>
            </a:r>
          </a:p>
          <a:p>
            <a:pPr>
              <a:lnSpc>
                <a:spcPct val="106000"/>
              </a:lnSpc>
              <a:spcAft>
                <a:spcPts val="1100"/>
              </a:spcAft>
              <a:defRPr sz="1900">
                <a:solidFill>
                  <a:srgbClr val="172033"/>
                </a:solidFill>
                <a:latin typeface="Aptos"/>
              </a:defRPr>
            </a:pPr>
            <a:r>
              <a:t>Four core numerical/temporal tests pass.</a:t>
            </a:r>
          </a:p>
          <a:p>
            <a:pPr>
              <a:lnSpc>
                <a:spcPct val="106000"/>
              </a:lnSpc>
              <a:spcAft>
                <a:spcPts val="1100"/>
              </a:spcAft>
              <a:defRPr sz="1900">
                <a:solidFill>
                  <a:srgbClr val="172033"/>
                </a:solidFill>
                <a:latin typeface="Aptos"/>
              </a:defRPr>
            </a:pPr>
            <a:r>
              <a:t>Clean rebuild: 23,869 chains / 10.87M residues / zero parser errors in 4.6 minutes.</a:t>
            </a:r>
          </a:p>
          <a:p>
            <a:pPr>
              <a:lnSpc>
                <a:spcPct val="106000"/>
              </a:lnSpc>
              <a:spcAft>
                <a:spcPts val="1100"/>
              </a:spcAft>
              <a:defRPr sz="1900">
                <a:solidFill>
                  <a:srgbClr val="172033"/>
                </a:solidFill>
                <a:latin typeface="Aptos"/>
              </a:defRPr>
            </a:pPr>
            <a:r>
              <a:t>Clean rerun: dummy 0.0687, top-1 0.2983 and current pipeline 0.3072.</a:t>
            </a:r>
          </a:p>
          <a:p>
            <a:pPr>
              <a:lnSpc>
                <a:spcPct val="106000"/>
              </a:lnSpc>
              <a:spcAft>
                <a:spcPts val="1100"/>
              </a:spcAft>
              <a:defRPr sz="1900">
                <a:solidFill>
                  <a:srgbClr val="172033"/>
                </a:solidFill>
                <a:latin typeface="Aptos"/>
              </a:defRPr>
            </a:pPr>
            <a:r>
              <a:t>Offline Kaggle kernel v4 completed; its exact 2,515-row output passed validation.</a:t>
            </a:r>
          </a:p>
          <a:p>
            <a:pPr>
              <a:lnSpc>
                <a:spcPct val="106000"/>
              </a:lnSpc>
              <a:spcAft>
                <a:spcPts val="1100"/>
              </a:spcAft>
              <a:defRPr sz="1900">
                <a:solidFill>
                  <a:srgbClr val="172033"/>
                </a:solidFill>
                <a:latin typeface="Aptos"/>
              </a:defRPr>
            </a:pPr>
            <a:r>
              <a:t>Late submission 54662648 completed: 0.60084 public / 0.60175 private.</a:t>
            </a:r>
          </a:p>
          <a:p>
            <a:pPr>
              <a:lnSpc>
                <a:spcPct val="106000"/>
              </a:lnSpc>
              <a:spcAft>
                <a:spcPts val="1100"/>
              </a:spcAft>
              <a:defRPr sz="1900">
                <a:solidFill>
                  <a:srgbClr val="172033"/>
                </a:solidFill>
                <a:latin typeface="Aptos"/>
              </a:defRPr>
            </a:pPr>
            <a:r>
              <a:t>WSL cap configured to 18 GB RAM + 8 GB swap; restart is required to apply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111556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E6B7A"/>
                </a:solidFill>
              </a:defRPr>
            </a:pPr>
            <a:r>
              <a:t>Stanford RNA 3D Folding thesis update  •  14 Jul 2026                                     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14213D"/>
                </a:solidFill>
                <a:latin typeface="Aptos Display"/>
              </a:defRPr>
            </a:pPr>
            <a:r>
              <a:t>Compute strategy and laptop handoff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1234440"/>
            <a:ext cx="1143000" cy="54864"/>
          </a:xfrm>
          <a:prstGeom prst="rect">
            <a:avLst/>
          </a:prstGeom>
          <a:solidFill>
            <a:srgbClr val="13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08760"/>
            <a:ext cx="10698480" cy="4480560"/>
          </a:xfrm>
          <a:prstGeom prst="rect">
            <a:avLst/>
          </a:prstGeom>
          <a:noFill/>
        </p:spPr>
        <p:txBody>
          <a:bodyPr wrap="square" lIns="73152" rIns="45720">
            <a:spAutoFit/>
          </a:bodyPr>
          <a:lstStyle/>
          <a:p>
            <a:pPr>
              <a:lnSpc>
                <a:spcPct val="106000"/>
              </a:lnSpc>
              <a:spcAft>
                <a:spcPts val="1100"/>
              </a:spcAft>
              <a:defRPr sz="2100">
                <a:solidFill>
                  <a:srgbClr val="172033"/>
                </a:solidFill>
                <a:latin typeface="Aptos"/>
              </a:defRPr>
            </a:pPr>
            <a:r>
              <a:t>RTX 3060 Ti / 8 GB: artifact builds and DRfold2/RibonanzaNet-scale experiments.</a:t>
            </a:r>
          </a:p>
          <a:p>
            <a:pPr>
              <a:lnSpc>
                <a:spcPct val="106000"/>
              </a:lnSpc>
              <a:spcAft>
                <a:spcPts val="1100"/>
              </a:spcAft>
              <a:defRPr sz="2100">
                <a:solidFill>
                  <a:srgbClr val="172033"/>
                </a:solidFill>
                <a:latin typeface="Aptos"/>
              </a:defRPr>
            </a:pPr>
            <a:r>
              <a:t>GTX 1650 / 4 GB laptop: code, unit tests, cached-candidate analysis, slides and thesis writing.</a:t>
            </a:r>
          </a:p>
          <a:p>
            <a:pPr>
              <a:lnSpc>
                <a:spcPct val="106000"/>
              </a:lnSpc>
              <a:spcAft>
                <a:spcPts val="1100"/>
              </a:spcAft>
              <a:defRPr sz="2100">
                <a:solidFill>
                  <a:srgbClr val="172033"/>
                </a:solidFill>
                <a:latin typeface="Aptos"/>
              </a:defRPr>
            </a:pPr>
            <a:r>
              <a:t>Do not rebuild 57 GB CIFs or run AF3-style models on the laptop.</a:t>
            </a:r>
          </a:p>
          <a:p>
            <a:pPr>
              <a:lnSpc>
                <a:spcPct val="106000"/>
              </a:lnSpc>
              <a:spcAft>
                <a:spcPts val="1100"/>
              </a:spcAft>
              <a:defRPr sz="2100">
                <a:solidFill>
                  <a:srgbClr val="172033"/>
                </a:solidFill>
                <a:latin typeface="Aptos"/>
              </a:defRPr>
            </a:pPr>
            <a:r>
              <a:t>Kaggle GPU: final offline notebook and heavier pretrained candidates where feasible.</a:t>
            </a:r>
          </a:p>
          <a:p>
            <a:pPr>
              <a:lnSpc>
                <a:spcPct val="106000"/>
              </a:lnSpc>
              <a:spcAft>
                <a:spcPts val="1100"/>
              </a:spcAft>
              <a:defRPr sz="2100">
                <a:solidFill>
                  <a:srgbClr val="172033"/>
                </a:solidFill>
                <a:latin typeface="Aptos"/>
              </a:defRPr>
            </a:pPr>
            <a:r>
              <a:t>Cache candidate coordinates so fusion/refinement ablations remain cheap and reproducible.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111556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E6B7A"/>
                </a:solidFill>
              </a:defRPr>
            </a:pPr>
            <a:r>
              <a:t>Stanford RNA 3D Folding thesis update  •  14 Jul 2026                                     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14213D"/>
                </a:solidFill>
                <a:latin typeface="Aptos Display"/>
              </a:defRPr>
            </a:pPr>
            <a:r>
              <a:t>Immediate next steps and decision gates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1234440"/>
            <a:ext cx="1143000" cy="54864"/>
          </a:xfrm>
          <a:prstGeom prst="rect">
            <a:avLst/>
          </a:prstGeom>
          <a:solidFill>
            <a:srgbClr val="13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08760"/>
            <a:ext cx="10698480" cy="4480560"/>
          </a:xfrm>
          <a:prstGeom prst="rect">
            <a:avLst/>
          </a:prstGeom>
          <a:noFill/>
        </p:spPr>
        <p:txBody>
          <a:bodyPr wrap="square" lIns="73152" rIns="45720">
            <a:spAutoFit/>
          </a:bodyPr>
          <a:lstStyle/>
          <a:p>
            <a:pPr>
              <a:lnSpc>
                <a:spcPct val="106000"/>
              </a:lnSpc>
              <a:spcAft>
                <a:spcPts val="1100"/>
              </a:spcAft>
              <a:defRPr sz="2000">
                <a:solidFill>
                  <a:srgbClr val="172033"/>
                </a:solidFill>
                <a:latin typeface="Aptos"/>
              </a:defRPr>
            </a:pPr>
            <a:r>
              <a:t>1. Harden fail-closed cutoff parsing and explicit self-PDB exclusion.</a:t>
            </a:r>
          </a:p>
          <a:p>
            <a:pPr>
              <a:lnSpc>
                <a:spcPct val="106000"/>
              </a:lnSpc>
              <a:spcAft>
                <a:spcPts val="1100"/>
              </a:spcAft>
              <a:defRPr sz="2000">
                <a:solidFill>
                  <a:srgbClr val="172033"/>
                </a:solidFill>
                <a:latin typeface="Aptos"/>
              </a:defRPr>
            </a:pPr>
            <a:r>
              <a:t>2. Add pretrained candidates and first measure oracle-pool TM.</a:t>
            </a:r>
          </a:p>
          <a:p>
            <a:pPr>
              <a:lnSpc>
                <a:spcPct val="106000"/>
              </a:lnSpc>
              <a:spcAft>
                <a:spcPts val="1100"/>
              </a:spcAft>
              <a:defRPr sz="2000">
                <a:solidFill>
                  <a:srgbClr val="172033"/>
                </a:solidFill>
                <a:latin typeface="Aptos"/>
              </a:defRPr>
            </a:pPr>
            <a:r>
              <a:t>3. Proceed to fusion only if candidate sources are complementary.</a:t>
            </a:r>
          </a:p>
          <a:p>
            <a:pPr>
              <a:lnSpc>
                <a:spcPct val="106000"/>
              </a:lnSpc>
              <a:spcAft>
                <a:spcPts val="1100"/>
              </a:spcAft>
              <a:defRPr sz="2000">
                <a:solidFill>
                  <a:srgbClr val="172033"/>
                </a:solidFill>
                <a:latin typeface="Aptos"/>
              </a:defRPr>
            </a:pPr>
            <a:r>
              <a:t>4. Require geometry v2 to eliminate the kink regression.</a:t>
            </a:r>
          </a:p>
          <a:p>
            <a:pPr>
              <a:lnSpc>
                <a:spcPct val="106000"/>
              </a:lnSpc>
              <a:spcAft>
                <a:spcPts val="1100"/>
              </a:spcAft>
              <a:defRPr sz="2000">
                <a:solidFill>
                  <a:srgbClr val="172033"/>
                </a:solidFill>
                <a:latin typeface="Aptos"/>
              </a:defRPr>
            </a:pPr>
            <a:r>
              <a:t>5. Run paired family/time-aware ablations and freeze the final holdout.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111556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E6B7A"/>
                </a:solidFill>
              </a:defRPr>
            </a:pPr>
            <a:r>
              <a:t>Stanford RNA 3D Folding thesis update  •  14 Jul 2026                                     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14213D"/>
                </a:solidFill>
                <a:latin typeface="Aptos Display"/>
              </a:defRPr>
            </a:pPr>
            <a:r>
              <a:t>Questions for the supervisor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1234440"/>
            <a:ext cx="1143000" cy="54864"/>
          </a:xfrm>
          <a:prstGeom prst="rect">
            <a:avLst/>
          </a:prstGeom>
          <a:solidFill>
            <a:srgbClr val="13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08760"/>
            <a:ext cx="10698480" cy="4480560"/>
          </a:xfrm>
          <a:prstGeom prst="rect">
            <a:avLst/>
          </a:prstGeom>
          <a:noFill/>
        </p:spPr>
        <p:txBody>
          <a:bodyPr wrap="square" lIns="73152" rIns="45720">
            <a:spAutoFit/>
          </a:bodyPr>
          <a:lstStyle/>
          <a:p>
            <a:pPr>
              <a:lnSpc>
                <a:spcPct val="106000"/>
              </a:lnSpc>
              <a:spcAft>
                <a:spcPts val="1100"/>
              </a:spcAft>
              <a:defRPr sz="2100">
                <a:solidFill>
                  <a:srgbClr val="172033"/>
                </a:solidFill>
                <a:latin typeface="Aptos"/>
              </a:defRPr>
            </a:pPr>
            <a:r>
              <a:t>Should the primary claim centre on segment fusion, with geometry v2 as projection/repair?</a:t>
            </a:r>
          </a:p>
          <a:p>
            <a:pPr>
              <a:lnSpc>
                <a:spcPct val="106000"/>
              </a:lnSpc>
              <a:spcAft>
                <a:spcPts val="1100"/>
              </a:spcAft>
              <a:defRPr sz="2100">
                <a:solidFill>
                  <a:srgbClr val="172033"/>
                </a:solidFill>
                <a:latin typeface="Aptos"/>
              </a:defRPr>
            </a:pPr>
            <a:r>
              <a:t>Is 12-target temporal-safe CASP15 evaluation sufficient when paired with Kaggle private validation?</a:t>
            </a:r>
          </a:p>
          <a:p>
            <a:pPr>
              <a:lnSpc>
                <a:spcPct val="106000"/>
              </a:lnSpc>
              <a:spcAft>
                <a:spcPts val="1100"/>
              </a:spcAft>
              <a:defRPr sz="2100">
                <a:solidFill>
                  <a:srgbClr val="172033"/>
                </a:solidFill>
                <a:latin typeface="Aptos"/>
              </a:defRPr>
            </a:pPr>
            <a:r>
              <a:t>Should the frozen final holdout be family-based, time-based, or target-based?</a:t>
            </a:r>
          </a:p>
          <a:p>
            <a:pPr>
              <a:lnSpc>
                <a:spcPct val="106000"/>
              </a:lnSpc>
              <a:spcAft>
                <a:spcPts val="1100"/>
              </a:spcAft>
              <a:defRPr sz="2100">
                <a:solidFill>
                  <a:srgbClr val="172033"/>
                </a:solidFill>
                <a:latin typeface="Aptos"/>
              </a:defRPr>
            </a:pPr>
            <a:r>
              <a:t>Is a learned confidence gate necessary, or can a well-ablated heuristic gate suffice?</a:t>
            </a:r>
          </a:p>
          <a:p>
            <a:pPr>
              <a:lnSpc>
                <a:spcPct val="106000"/>
              </a:lnSpc>
              <a:spcAft>
                <a:spcPts val="1100"/>
              </a:spcAft>
              <a:defRPr sz="2100">
                <a:solidFill>
                  <a:srgbClr val="172033"/>
                </a:solidFill>
                <a:latin typeface="Aptos"/>
              </a:defRPr>
            </a:pPr>
            <a:r>
              <a:t>Should success be framed as TM uplift, geometry validity, or an explicit two-axis claim?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111556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E6B7A"/>
                </a:solidFill>
              </a:defRPr>
            </a:pPr>
            <a:r>
              <a:t>Stanford RNA 3D Folding thesis update  •  14 Jul 2026                                      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14213D"/>
                </a:solidFill>
                <a:latin typeface="Aptos Display"/>
              </a:defRPr>
            </a:pPr>
            <a:r>
              <a:t>Appendix: evidence map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1234440"/>
            <a:ext cx="1143000" cy="54864"/>
          </a:xfrm>
          <a:prstGeom prst="rect">
            <a:avLst/>
          </a:prstGeom>
          <a:solidFill>
            <a:srgbClr val="13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08760"/>
            <a:ext cx="10698480" cy="4480560"/>
          </a:xfrm>
          <a:prstGeom prst="rect">
            <a:avLst/>
          </a:prstGeom>
          <a:noFill/>
        </p:spPr>
        <p:txBody>
          <a:bodyPr wrap="square" lIns="73152" rIns="45720">
            <a:spAutoFit/>
          </a:bodyPr>
          <a:lstStyle/>
          <a:p>
            <a:pPr>
              <a:lnSpc>
                <a:spcPct val="106000"/>
              </a:lnSpc>
              <a:spcAft>
                <a:spcPts val="1100"/>
              </a:spcAft>
              <a:defRPr sz="1800">
                <a:solidFill>
                  <a:srgbClr val="172033"/>
                </a:solidFill>
                <a:latin typeface="Aptos"/>
              </a:defRPr>
            </a:pPr>
            <a:r>
              <a:t>Pipeline results: reports/thesis_notes/results_summary.md</a:t>
            </a:r>
          </a:p>
          <a:p>
            <a:pPr>
              <a:lnSpc>
                <a:spcPct val="106000"/>
              </a:lnSpc>
              <a:spcAft>
                <a:spcPts val="1100"/>
              </a:spcAft>
              <a:defRPr sz="1800">
                <a:solidFill>
                  <a:srgbClr val="172033"/>
                </a:solidFill>
                <a:latin typeface="Aptos"/>
              </a:defRPr>
            </a:pPr>
            <a:r>
              <a:t>Kaggle 0.60175 audit: reports/thesis_notes/kaggle_submission_analysis.md</a:t>
            </a:r>
          </a:p>
          <a:p>
            <a:pPr>
              <a:lnSpc>
                <a:spcPct val="106000"/>
              </a:lnSpc>
              <a:spcAft>
                <a:spcPts val="1100"/>
              </a:spcAft>
              <a:defRPr sz="1800">
                <a:solidFill>
                  <a:srgbClr val="172033"/>
                </a:solidFill>
                <a:latin typeface="Aptos"/>
              </a:defRPr>
            </a:pPr>
            <a:r>
              <a:t>Composite ablation: reports/thesis_notes/composite_ablation.md</a:t>
            </a:r>
          </a:p>
          <a:p>
            <a:pPr>
              <a:lnSpc>
                <a:spcPct val="106000"/>
              </a:lnSpc>
              <a:spcAft>
                <a:spcPts val="1100"/>
              </a:spcAft>
              <a:defRPr sz="1800">
                <a:solidFill>
                  <a:srgbClr val="172033"/>
                </a:solidFill>
                <a:latin typeface="Aptos"/>
              </a:defRPr>
            </a:pPr>
            <a:r>
              <a:t>Refinement truthfulness: reports/thesis_notes/refine_ablation.md</a:t>
            </a:r>
          </a:p>
          <a:p>
            <a:pPr>
              <a:lnSpc>
                <a:spcPct val="106000"/>
              </a:lnSpc>
              <a:spcAft>
                <a:spcPts val="1100"/>
              </a:spcAft>
              <a:defRPr sz="1800">
                <a:solidFill>
                  <a:srgbClr val="172033"/>
                </a:solidFill>
                <a:latin typeface="Aptos"/>
              </a:defRPr>
            </a:pPr>
            <a:r>
              <a:t>Top-1 reproduction and leakage: reproduce_top1.md + leakage_demo.md</a:t>
            </a:r>
          </a:p>
          <a:p>
            <a:pPr>
              <a:lnSpc>
                <a:spcPct val="106000"/>
              </a:lnSpc>
              <a:spcAft>
                <a:spcPts val="1100"/>
              </a:spcAft>
              <a:defRPr sz="1800">
                <a:solidFill>
                  <a:srgbClr val="172033"/>
                </a:solidFill>
                <a:latin typeface="Aptos"/>
              </a:defRPr>
            </a:pPr>
            <a:r>
              <a:t>Full chronology: LOG.md; extension: PLAN.md + research_plan_review.md</a:t>
            </a:r>
          </a:p>
          <a:p>
            <a:pPr>
              <a:lnSpc>
                <a:spcPct val="106000"/>
              </a:lnSpc>
              <a:spcAft>
                <a:spcPts val="1100"/>
              </a:spcAft>
              <a:defRPr sz="1800">
                <a:solidFill>
                  <a:srgbClr val="172033"/>
                </a:solidFill>
                <a:latin typeface="Aptos"/>
              </a:defRPr>
            </a:pPr>
            <a:r>
              <a:t>External papers and official Kaggle workflow: sources.md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111556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E6B7A"/>
                </a:solidFill>
              </a:defRPr>
            </a:pPr>
            <a:r>
              <a:t>Stanford RNA 3D Folding thesis update  •  14 Jul 2026                                      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