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3327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GeoFuse-RNA</a:t>
            </a:r>
          </a:p>
          <a:p>
            <a:pPr>
              <a:spcBef>
                <a:spcPts val="1600"/>
              </a:spcBef>
              <a:defRPr sz="2400">
                <a:solidFill>
                  <a:srgbClr val="DCE6F3"/>
                </a:solidFill>
              </a:defRPr>
            </a:pPr>
            <a:r>
              <a:t>Confidence-aware fusion and motif-conditioned</a:t>
            </a:r>
            <a:br/>
            <a:r>
              <a:t>geometric refinement for RNA 3D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FC0D6"/>
                </a:solidFill>
              </a:defRPr>
            </a:pPr>
            <a:r>
              <a:t>Supervisor progress update</a:t>
            </a:r>
            <a:br/>
            <a:r>
              <a:t>14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8D2E0"/>
                </a:solidFill>
              </a:defRPr>
            </a:pPr>
            <a:r>
              <a:t>Stanford RNA 3D Folding thesis update  •  14 Jul 2026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Reproducible temporal-safe RNA 3D pipeline built around the Stanford Kaggle challenge.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Strongest local result: 0.3072 mean best-of-5 TM on 12 CASP15 targets.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Main empirical win: +0.0955 TM from better template recall.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Geometry v1 improves clashes/backbone spacing, but is TM-neutral and increases sharp kinks.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Next contribution: segment-level TBM/pretrained fusion plus motif-conditioned geometry v2.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Problem and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  <a:defRPr sz="2200">
                <a:solidFill>
                  <a:srgbClr val="172033"/>
                </a:solidFill>
                <a:latin typeface="Aptos"/>
              </a:defRPr>
            </a:pPr>
            <a:r>
              <a:t>Input: RNA sequence, MSA, template structures and release-date metadata.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200">
                <a:solidFill>
                  <a:srgbClr val="172033"/>
                </a:solidFill>
                <a:latin typeface="Aptos"/>
              </a:defRPr>
            </a:pPr>
            <a:r>
              <a:t>Output: five C1′ coordinate structures per target, each with shape [L, 3].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200">
                <a:solidFill>
                  <a:srgbClr val="172033"/>
                </a:solidFill>
                <a:latin typeface="Aptos"/>
              </a:defRPr>
            </a:pPr>
            <a:r>
              <a:t>Competition score: best TM among five predictions, averaged over targets/references.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200">
                <a:solidFill>
                  <a:srgbClr val="172033"/>
                </a:solidFill>
                <a:latin typeface="Aptos"/>
              </a:defRPr>
            </a:pPr>
            <a:r>
              <a:t>TM rewards the global fold and can tolerate local geometric artifacts.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200">
                <a:solidFill>
                  <a:srgbClr val="172033"/>
                </a:solidFill>
                <a:latin typeface="Aptos"/>
              </a:defRPr>
            </a:pPr>
            <a:r>
              <a:t>Thesis evaluation therefore separates fold accuracy from structural validity.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Data and EDA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Train v1: 844 / 137k residues; train v2: 5,135 / 3.68M residues.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Local validation/test: 12 CASP15 targets, 2,515 residues total.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Lengths span 30–720 nt (median 129.5 nt); R1138 is a 720-nt stress case.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Template resource: 8,670 RNA CIF files, 56.89 GiB.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Historical parse: 23,869 chains, 10.86M residues, 99.9% modelled C1′, zero errors.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MSA and MSA_v2 add target-specific evolutionary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Leakage is the central evaluation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5097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</a:defRPr>
            </a:pPr>
            <a:r>
              <a:t>Same earlier TBM pipeline under three template-availability regimes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akage_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4752"/>
            <a:ext cx="7955279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69680" y="1828800"/>
            <a:ext cx="2606040" cy="292608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72033"/>
                </a:solidFill>
                <a:latin typeface="Aptos"/>
              </a:defRPr>
            </a:pPr>
            <a:r>
              <a:t>Ignoring time can inflate TM by +0.48 to +0.80.</a:t>
            </a:r>
            <a:br/>
            <a:br/>
            <a:r>
              <a:t>Oracle results are diagnostics, not scientific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Implemented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5097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</a:defRPr>
            </a:pPr>
            <a:r>
              <a:t>One code path for local evaluation and Kaggle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1600200" cy="105156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033"/>
                </a:solidFill>
                <a:latin typeface="Aptos"/>
              </a:defRPr>
            </a:pPr>
            <a:r>
              <a:t>Sequence + cutoff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75688" y="2304288"/>
            <a:ext cx="393192" cy="320040"/>
          </a:xfrm>
          <a:prstGeom prst="rightArrow">
            <a:avLst/>
          </a:prstGeom>
          <a:solidFill>
            <a:srgbClr val="5E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23160" y="1965960"/>
            <a:ext cx="1600200" cy="105156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033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95928" y="2304288"/>
            <a:ext cx="393192" cy="320040"/>
          </a:xfrm>
          <a:prstGeom prst="rightArrow">
            <a:avLst/>
          </a:prstGeom>
          <a:solidFill>
            <a:srgbClr val="5E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51960" y="1965960"/>
            <a:ext cx="1600200" cy="105156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033"/>
                </a:solidFill>
                <a:latin typeface="Aptos"/>
              </a:defRPr>
            </a:pPr>
            <a:r>
              <a:t>Temporal filter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24728" y="2304288"/>
            <a:ext cx="393192" cy="320040"/>
          </a:xfrm>
          <a:prstGeom prst="rightArrow">
            <a:avLst/>
          </a:prstGeom>
          <a:solidFill>
            <a:srgbClr val="5E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08192" y="1965960"/>
            <a:ext cx="1600200" cy="105156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033"/>
                </a:solidFill>
                <a:latin typeface="Aptos"/>
              </a:defRPr>
            </a:pPr>
            <a:r>
              <a:t>Transfer + gap fill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80960" y="2304288"/>
            <a:ext cx="393192" cy="320040"/>
          </a:xfrm>
          <a:prstGeom prst="rightArrow">
            <a:avLst/>
          </a:prstGeom>
          <a:solidFill>
            <a:srgbClr val="5E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2" y="1965960"/>
            <a:ext cx="1600200" cy="105156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033"/>
                </a:solidFill>
                <a:latin typeface="Aptos"/>
              </a:defRPr>
            </a:pPr>
            <a:r>
              <a:t>Candidate pool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92640" y="2304288"/>
            <a:ext cx="393192" cy="320040"/>
          </a:xfrm>
          <a:prstGeom prst="rightArrow">
            <a:avLst/>
          </a:prstGeom>
          <a:solidFill>
            <a:srgbClr val="5E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0" y="1965960"/>
            <a:ext cx="1600200" cy="105156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2033"/>
                </a:solidFill>
                <a:latin typeface="Aptos"/>
              </a:defRPr>
            </a:pPr>
            <a:r>
              <a:t>Final five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10332720" cy="2103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MMseqs + exhaustive composite similarity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Leakage guard before ranking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TBM + de novo hedge + optional geometry refinement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1800">
                <a:solidFill>
                  <a:srgbClr val="172033"/>
                </a:solidFill>
                <a:latin typeface="Aptos"/>
              </a:defRPr>
            </a:pPr>
            <a:r>
              <a:t>Quality/diversity selection produces five C1′ structures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How performance evolved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peline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4752"/>
            <a:ext cx="7955279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869680" y="1828800"/>
            <a:ext cx="2606040" cy="292608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72033"/>
                </a:solidFill>
                <a:latin typeface="Aptos"/>
              </a:defRPr>
            </a:pPr>
            <a:r>
              <a:t>Candidate generation dominates.</a:t>
            </a:r>
            <a:br/>
            <a:br/>
            <a:r>
              <a:t>The largest jump came from search recall, not coordinate optimisation.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Bottleneck diagnosis: candidate recall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Only 5/12 targets originally had an MMseqs temporal-safe hit; 7/12 fell back to de novo.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A faithful top-1 reproduction scored 0.2983 temporal-safe using exhaustive composite similarity.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This diagnosed search—not refinement—as the main accuracy bottleneck.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Composite search lifted our pipeline from 0.2117 to 0.3072.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It improved 11/12 targets and beat reproduced top-1 on 9/12.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Composite-search ablation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posite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4752"/>
            <a:ext cx="7955279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869680" y="1828800"/>
            <a:ext cx="2606040" cy="292608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72033"/>
                </a:solidFill>
                <a:latin typeface="Aptos"/>
              </a:defRPr>
            </a:pPr>
            <a:r>
              <a:t>Mean gain: +0.0955 TM</a:t>
            </a:r>
            <a:br/>
            <a:br/>
            <a:r>
              <a:t>Largest: R1117v2 +0.320</a:t>
            </a:r>
            <a:br/>
            <a:br/>
            <a:r>
              <a:t>Runtime: ~8 s/target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Geometry refinement v1: an honest negative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5097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B7A"/>
                </a:solidFill>
              </a:defRPr>
            </a:pPr>
            <a:r>
              <a:t>Auxiliary metrics averaged over all five structures and 12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finement_truthful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4752"/>
            <a:ext cx="7955279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69680" y="1828800"/>
            <a:ext cx="2606040" cy="292608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72033"/>
                </a:solidFill>
                <a:latin typeface="Aptos"/>
              </a:defRPr>
            </a:pPr>
            <a:r>
              <a:t>−42% clashes</a:t>
            </a:r>
            <a:br/>
            <a:r>
              <a:t>−47% backbone deviation</a:t>
            </a:r>
            <a:br/>
            <a:br/>
            <a:r>
              <a:t>TM: −0.002</a:t>
            </a:r>
            <a:br/>
            <a:r>
              <a:t>Kinks: ~2×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What is already a contribution?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A reproducible temporal-safe benchmark with explicit leakage quantification.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A search diagnosis and composite-recall improvement over the reproduced top-1 baseline.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Adversarial refinement evaluation using an unoptimised sharp-kink metric.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Reusable accuracy, geometry and diversity evaluation in one codebase.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However, generic ‘TBM + pretrained + refinement’ remains too close to leaderboard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Proposed thesis extension: GeoFuse-RNA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691640" cy="96012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2033"/>
                </a:solidFill>
                <a:latin typeface="Aptos"/>
              </a:defRPr>
            </a:pPr>
            <a:r>
              <a:t>TBM candidates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749039"/>
            <a:ext cx="1691640" cy="96012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2033"/>
                </a:solidFill>
                <a:latin typeface="Aptos"/>
              </a:defRPr>
            </a:pPr>
            <a:r>
              <a:t>Pretrained candidates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2697480"/>
            <a:ext cx="1920240" cy="96012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2033"/>
                </a:solidFill>
                <a:latin typeface="Aptos"/>
              </a:defRPr>
            </a:pPr>
            <a:r>
              <a:t>Fold clustering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2697480"/>
            <a:ext cx="1920240" cy="96012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2033"/>
                </a:solidFill>
                <a:latin typeface="Aptos"/>
              </a:defRPr>
            </a:pPr>
            <a:r>
              <a:t>Residue/segment 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965960"/>
            <a:ext cx="1783080" cy="96012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2033"/>
                </a:solidFill>
                <a:latin typeface="Aptos"/>
              </a:defRPr>
            </a:pPr>
            <a:r>
              <a:t>Segment fusion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3657600"/>
            <a:ext cx="1783080" cy="96012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2033"/>
                </a:solidFill>
                <a:latin typeface="Aptos"/>
              </a:defRPr>
            </a:pPr>
            <a:r>
              <a:t>Geometry v2 projection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2788920"/>
            <a:ext cx="1783080" cy="96012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2033"/>
                </a:solidFill>
                <a:latin typeface="Aptos"/>
              </a:defRPr>
            </a:pPr>
            <a:r>
              <a:t>Quality-diversity final five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2011680"/>
            <a:ext cx="731520" cy="960120"/>
          </a:xfrm>
          <a:prstGeom prst="line">
            <a:avLst/>
          </a:prstGeom>
          <a:ln w="19050">
            <a:solidFill>
              <a:srgbClr val="AFC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23160" y="3246120"/>
            <a:ext cx="731520" cy="822960"/>
          </a:xfrm>
          <a:prstGeom prst="line">
            <a:avLst/>
          </a:prstGeom>
          <a:ln w="19050">
            <a:solidFill>
              <a:srgbClr val="AFC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74920" y="3063240"/>
            <a:ext cx="274320" cy="0"/>
          </a:xfrm>
          <a:prstGeom prst="line">
            <a:avLst/>
          </a:prstGeom>
          <a:ln w="19050">
            <a:solidFill>
              <a:srgbClr val="AFC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69480" y="2468880"/>
            <a:ext cx="640080" cy="594360"/>
          </a:xfrm>
          <a:prstGeom prst="line">
            <a:avLst/>
          </a:prstGeom>
          <a:ln w="19050">
            <a:solidFill>
              <a:srgbClr val="AFC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69480" y="3246120"/>
            <a:ext cx="640080" cy="822960"/>
          </a:xfrm>
          <a:prstGeom prst="line">
            <a:avLst/>
          </a:prstGeom>
          <a:ln w="19050">
            <a:solidFill>
              <a:srgbClr val="AFC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92640" y="2423160"/>
            <a:ext cx="365760" cy="594360"/>
          </a:xfrm>
          <a:prstGeom prst="line">
            <a:avLst/>
          </a:prstGeom>
          <a:ln w="19050">
            <a:solidFill>
              <a:srgbClr val="AFC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692640" y="3383280"/>
            <a:ext cx="365760" cy="640080"/>
          </a:xfrm>
          <a:prstGeom prst="line">
            <a:avLst/>
          </a:prstGeom>
          <a:ln w="19050">
            <a:solidFill>
              <a:srgbClr val="AFC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5840" y="571500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Novelty is the adaptive integration layer — not another large RNA foundation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8D2E0"/>
                </a:solidFill>
              </a:defRPr>
            </a:pPr>
            <a:r>
              <a:t>Stanford RNA 3D Folding thesis update  •  14 Jul 2026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Geometry v2: directly answer the v1 failure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Retain adjacent-distance, clash and size terms.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Add context-conditioned angle/curvature distributions to prevent kink trading.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Use signed pseudo-torsion only when the required atom representation is retained.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Optimise in stages: stitch/fuse → local repair → weak global prior.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Success gate: preserve TM and geometry gains without exceeding the no-refine kink 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Confidence-aware segment fusion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Estimate source reliability at residue/segment level, not only one score per structure.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TBM features: identity, coverage, completeness, gap mask, date and local agreement.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Pretrained features: model confidence and agreement among predicted folds.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Align and cluster candidates before fusion; never blend incompatible global folds.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Use segment smoothing and seam penalties to avoid ‘Frankenstein’ switching.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Train/evaluate on real held-out predictions, not synthetic corruptions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Experiments that isolate the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72768"/>
            <a:ext cx="68580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72033"/>
                </a:solidFill>
                <a:latin typeface="Aptos"/>
              </a:defRPr>
            </a:pPr>
            <a:r>
              <a:t>B0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0200" y="1572768"/>
            <a:ext cx="365760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033"/>
                </a:solidFill>
                <a:latin typeface="Aptos"/>
              </a:defRPr>
            </a:pPr>
            <a:r>
              <a:t>Current TBM + composite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32120" y="1572768"/>
            <a:ext cx="562356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033"/>
                </a:solidFill>
                <a:latin typeface="Aptos"/>
              </a:defRPr>
            </a:pPr>
            <a:r>
              <a:t>Strong reference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32304"/>
            <a:ext cx="68580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72033"/>
                </a:solidFill>
                <a:latin typeface="Aptos"/>
              </a:defRPr>
            </a:pPr>
            <a:r>
              <a:t>B1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2432304"/>
            <a:ext cx="365760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033"/>
                </a:solidFill>
                <a:latin typeface="Aptos"/>
              </a:defRPr>
            </a:pPr>
            <a:r>
              <a:t>+ raw pretrained union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2432304"/>
            <a:ext cx="562356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033"/>
                </a:solidFill>
                <a:latin typeface="Aptos"/>
              </a:defRPr>
            </a:pPr>
            <a:r>
              <a:t>Does oracle candidate TM rise?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68580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72033"/>
                </a:solidFill>
                <a:latin typeface="Aptos"/>
              </a:defRPr>
            </a:pPr>
            <a:r>
              <a:t>B2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3291840"/>
            <a:ext cx="365760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033"/>
                </a:solidFill>
                <a:latin typeface="Aptos"/>
              </a:defRPr>
            </a:pPr>
            <a:r>
              <a:t>+ confidence-aware fusion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3291840"/>
            <a:ext cx="562356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033"/>
                </a:solidFill>
                <a:latin typeface="Aptos"/>
              </a:defRPr>
            </a:pPr>
            <a:r>
              <a:t>Fusion vs whole-candidate selection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51376"/>
            <a:ext cx="68580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72033"/>
                </a:solidFill>
                <a:latin typeface="Aptos"/>
              </a:defRPr>
            </a:pPr>
            <a:r>
              <a:t>B3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" y="4151376"/>
            <a:ext cx="365760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033"/>
                </a:solidFill>
                <a:latin typeface="Aptos"/>
              </a:defRPr>
            </a:pPr>
            <a:r>
              <a:t>+ geometry 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4151376"/>
            <a:ext cx="562356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033"/>
                </a:solidFill>
                <a:latin typeface="Aptos"/>
              </a:defRPr>
            </a:pPr>
            <a:r>
              <a:t>Repair without kink artifacts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10912"/>
            <a:ext cx="68580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72033"/>
                </a:solidFill>
                <a:latin typeface="Aptos"/>
              </a:defRPr>
            </a:pPr>
            <a:r>
              <a:t>B4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00200" y="5010912"/>
            <a:ext cx="365760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033"/>
                </a:solidFill>
                <a:latin typeface="Aptos"/>
              </a:defRPr>
            </a:pPr>
            <a:r>
              <a:t>+ fold-aware final-five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5010912"/>
            <a:ext cx="5623560" cy="658368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2033"/>
                </a:solidFill>
                <a:latin typeface="Aptos"/>
              </a:defRPr>
            </a:pPr>
            <a:r>
              <a:t>Quality/diversity and selection regret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Current engineering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WSL Conda env ‘rna-fold’ installed; RTX 3060 Ti CUDA and MMseqs2 verified.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Four core numerical/temporal tests pass.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Clean rebuild: 23,869 chains / 10.87M residues / zero parser errors in 4.6 minutes.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Clean rerun: dummy 0.0687, top-1 0.2983 and current pipeline 0.3072.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Offline Kaggle kernel v4 completed; its exact 2,515-row output passed validation.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Late submission 54662648 is accepted and awaiting the hidden-set score.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WSL cap configured to 18 GB RAM + 8 GB swap; restart is required to apply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Compute strategy and laptop handoff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RTX 3060 Ti / 8 GB: artifact builds and DRfold2/RibonanzaNet-scale experiments.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GTX 1650 / 4 GB laptop: code, unit tests, cached-candidate analysis, slides and thesis writing.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Do not rebuild 57 GB CIFs or run AF3-style models on the laptop.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Kaggle GPU: final offline notebook and heavier pretrained candidates where feasible.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Cache candidate coordinates so fusion/refinement ablations remain cheap and reproducible.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Immediate next steps and decision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1. Record the Kaggle baseline hidden-set score when submission 54662648 finishes.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2. Add pretrained candidates and first measure oracle-pool TM.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3. Proceed to fusion only if candidate sources are complementary.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4. Require geometry v2 to eliminate the kink regression.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5. Run paired family/time-aware ablations and freeze the final holdout.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Questions for the supervisor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Should the primary claim centre on segment fusion, with geometry v2 as projection/repair?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Is 12-target temporal-safe CASP15 evaluation sufficient when paired with Kaggle private validation?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Should the frozen final holdout be family-based, time-based, or target-based?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Is a learned confidence gate necessary, or can a well-ablated heuristic gate suffice?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100">
                <a:solidFill>
                  <a:srgbClr val="172033"/>
                </a:solidFill>
                <a:latin typeface="Aptos"/>
              </a:defRPr>
            </a:pPr>
            <a:r>
              <a:t>Should success be framed as TM uplift, geometry validity, or an explicit two-axis claim?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13D"/>
                </a:solidFill>
                <a:latin typeface="Aptos Display"/>
              </a:defRPr>
            </a:pPr>
            <a:r>
              <a:t>Appendix: evidence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34440"/>
            <a:ext cx="1143000" cy="5486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Pipeline results: reports/thesis_notes/results_summary.md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Composite ablation: reports/thesis_notes/composite_ablation.md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Refinement truthfulness: reports/thesis_notes/refine_ablation.md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Top-1 reproduction and leakage: reproduce_top1.md + leakage_demo.md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Full chronology: LOG.md; extension: PLAN.md + research_plan_review.md</a:t>
            </a:r>
          </a:p>
          <a:p>
            <a:pPr>
              <a:lnSpc>
                <a:spcPct val="106000"/>
              </a:lnSpc>
              <a:spcAft>
                <a:spcPts val="1100"/>
              </a:spcAft>
              <a:defRPr sz="2000">
                <a:solidFill>
                  <a:srgbClr val="172033"/>
                </a:solidFill>
                <a:latin typeface="Aptos"/>
              </a:defRPr>
            </a:pPr>
            <a:r>
              <a:t>External papers and official Kaggle workflow: sources.md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B7A"/>
                </a:solidFill>
              </a:defRPr>
            </a:pPr>
            <a:r>
              <a:t>Stanford RNA 3D Folding thesis update  •  14 Jul 2026                                    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